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Brent Crude Price (USD/bbl)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Crude Oil (Brent, USD/bbl)</c:v>
                </c:pt>
              </c:strCache>
            </c:strRef>
          </c:tx>
          <c:spPr>
            <a:solidFill>
              <a:srgbClr val="D487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</c:v>
                </c:pt>
                <c:pt idx="1">
                  <c:v>64</c:v>
                </c:pt>
                <c:pt idx="2">
                  <c:v>42</c:v>
                </c:pt>
                <c:pt idx="3">
                  <c:v>70</c:v>
                </c:pt>
                <c:pt idx="4">
                  <c:v>101</c:v>
                </c:pt>
                <c:pt idx="5">
                  <c:v>83</c:v>
                </c:pt>
                <c:pt idx="6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INR/USD Rate (Annual Avg)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INR/USD (Annual Avg)</c:v>
                </c:pt>
              </c:strCache>
            </c:strRef>
          </c:tx>
          <c:spPr>
            <a:solidFill>
              <a:srgbClr val="1A3F7A"/>
            </a:solidFill>
            <a:ln w="38100" cap="flat">
              <a:solidFill>
                <a:srgbClr val="1A3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3F7A"/>
              </a:solidFill>
              <a:ln w="9525" cap="flat">
                <a:solidFill>
                  <a:srgbClr val="1A3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68.4</c:v>
                </c:pt>
                <c:pt idx="1">
                  <c:v>70.4</c:v>
                </c:pt>
                <c:pt idx="2">
                  <c:v>74.1</c:v>
                </c:pt>
                <c:pt idx="3">
                  <c:v>73.9</c:v>
                </c:pt>
                <c:pt idx="4">
                  <c:v>78.6</c:v>
                </c:pt>
                <c:pt idx="5">
                  <c:v>82.6</c:v>
                </c:pt>
                <c:pt idx="6">
                  <c:v>83.5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71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"/>
            <a:ext cx="3200400" cy="3200400"/>
          </a:xfrm>
          <a:prstGeom prst="ellipse">
            <a:avLst/>
          </a:prstGeom>
          <a:solidFill>
            <a:srgbClr val="162B5E"/>
          </a:solidFill>
          <a:ln w="12700">
            <a:solidFill>
              <a:srgbClr val="162B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640080"/>
            <a:ext cx="192024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48640"/>
            <a:ext cx="3474720" cy="347472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48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3E"/>
                </a:solidFill>
              </a:rPr>
              <a:t>FINANCIAL INSTITUTIONS, MARKETS &amp; SERVICES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11430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Crude Oil &amp;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18288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Exchange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DEE8"/>
                </a:solidFill>
              </a:rPr>
              <a:t>Unit 3 | Lectures 31–33  |  Course Code: 24COM4373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" y="4709160"/>
            <a:ext cx="8778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DEE8"/>
                </a:solidFill>
              </a:rPr>
              <a:t>Chitkara Business School  |  B.Com &amp; B.Com ACCA  |  4th Semester  |  Jan–Jun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Mapping &amp;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CLO-03: Analyze reliability &amp; validity of money market instruments for short-term financing  |  CLO-04: Assess financing options for wealth maximization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594360" cy="118872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Crude Oil Markets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Introduction, Types, Structure, Pricing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87452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874520"/>
            <a:ext cx="594360" cy="118872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87452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Foreign Exchange Markets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4231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Structure, Instruments, Rate Mechanisms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594360" cy="118872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9184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3429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Crude Oil–Forex Nexus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Petrodollar, Impact on INR, Hedging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291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291840"/>
            <a:ext cx="594360" cy="118872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29184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03520" y="3429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Summary &amp; References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3840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Key Takeaways &amp; Book/Web References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914400"/>
            <a:ext cx="6400800" cy="6400800"/>
          </a:xfrm>
          <a:prstGeom prst="ellipse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822960"/>
            <a:ext cx="27432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1097280" cy="41148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SECTION 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8745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Crude Oil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7432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DEE8"/>
                </a:solidFill>
              </a:rPr>
              <a:t>Introduction • Types • Structure • Pricing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Crude Oil?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55280" y="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Sec 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389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F7A"/>
                </a:solidFill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A3A"/>
                </a:solidFill>
              </a:rPr>
              <a:t>Crude oil is a naturally occurring, unrefined petroleum product composed of hydrocarbon deposits found underground.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A3A"/>
                </a:solidFill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A3A"/>
                </a:solidFill>
              </a:rPr>
              <a:t>It is the world's most actively traded commodity and is central to global economic activity, influencing prices, exchange rates, and national GDPs.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60120"/>
            <a:ext cx="91440" cy="749808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014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F7A"/>
                </a:solidFill>
              </a:rPr>
              <a:t>Market Size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3A"/>
                </a:solidFill>
              </a:rPr>
              <a:t>~$3 Trillion/year globally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8288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828800"/>
            <a:ext cx="91440" cy="749808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883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F7A"/>
                </a:solidFill>
              </a:rPr>
              <a:t>Top Producers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3A"/>
                </a:solidFill>
              </a:rPr>
              <a:t>USA, Saudi Arabia, Russia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69748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2697480"/>
            <a:ext cx="91440" cy="749808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F7A"/>
                </a:solidFill>
              </a:rPr>
              <a:t>Unit of Trading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3A"/>
                </a:solidFill>
              </a:rPr>
              <a:t>Barrel (1 bbl = 159 litres)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56616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566160"/>
            <a:ext cx="91440" cy="749808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6210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F7A"/>
                </a:solidFill>
              </a:rPr>
              <a:t>Currency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A3A"/>
                </a:solidFill>
              </a:rPr>
              <a:t>Priced in USD (Petrodollar)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&amp; Grades of Crude Oil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86868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Brent Crude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Origin: North Sea (UK/Norway)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1051560"/>
            <a:ext cx="73152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A3A"/>
                </a:solidFill>
              </a:rPr>
              <a:t>~38° API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94760" y="1051560"/>
            <a:ext cx="118872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051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A3A"/>
                </a:solidFill>
              </a:rPr>
              <a:t>Low (Sweet)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71800" y="14173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European &amp; African pricing benchmark; ~67% of global oil priced off Brent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65960"/>
            <a:ext cx="109728" cy="86868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29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WTI (West Texas Intermediate)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404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Origin: Midland, Texas, USA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71800" y="2057400"/>
            <a:ext cx="73152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A3A"/>
                </a:solidFill>
              </a:rPr>
              <a:t>~39.6° API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94760" y="2057400"/>
            <a:ext cx="118872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057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A3A"/>
                </a:solidFill>
              </a:rPr>
              <a:t>Very Low (Sweet)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71800" y="2423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US benchmark; traded on NYMEX; often slightly cheaper than Brent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109728" cy="86868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Dubai/Oman Crude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410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Origin: Middle East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71800" y="3063240"/>
            <a:ext cx="73152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3063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A3A"/>
                </a:solidFill>
              </a:rPr>
              <a:t>~31° API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94760" y="3063240"/>
            <a:ext cx="118872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A3A"/>
                </a:solidFill>
              </a:rPr>
              <a:t>Higher (Sour)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71800" y="3429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Asian pricing benchmark; India imports majorly priced off Dubai/Oman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77640"/>
            <a:ext cx="109728" cy="86868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41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OPEC Basket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416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Origin: Multi-country blend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71800" y="4069080"/>
            <a:ext cx="73152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40690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A3A"/>
                </a:solidFill>
              </a:rPr>
              <a:t>Varies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94760" y="4069080"/>
            <a:ext cx="1188720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4069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A3A"/>
                </a:solidFill>
              </a:rPr>
              <a:t>Varies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971800" y="4434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Average of OPEC member countries' crude; used as reference for OPEC policy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Crude Oil Market Structure &amp; Pricing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 Participants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26464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3898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OPEC+ – Cartel controlling ~40% supply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4767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19110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National Oil Companies (Aramco, ADNOC, ONGC)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4688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International Oil Companies (Shell, BP, ExxonMobil)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90088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953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Commodity Exchanges (NYMEX, ICE, MCX India)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511296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580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Hedge Funds &amp; Speculators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032504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5800" y="3995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Refineries &amp; End-Users (Airlines, Manufacturers)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4572000" y="914400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572000" y="914400"/>
            <a:ext cx="4297680" cy="384048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Key Pricing Factors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709160" y="14173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F7A"/>
                </a:solidFill>
              </a:rPr>
              <a:t>Supply &amp; Demand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4709160" y="16002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OPEC production cuts / surpluses drive prices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4709160" y="19385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F7A"/>
                </a:solidFill>
              </a:rPr>
              <a:t>Geopolitics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709160" y="21214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Middle-East conflicts, sanctions (Iran, Russia)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4709160" y="24597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F7A"/>
                </a:solidFill>
              </a:rPr>
              <a:t>USD Strength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709160" y="26426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Inverse relationship: ↑ USD → ↓ Oil price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4709160" y="29809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F7A"/>
                </a:solidFill>
              </a:rPr>
              <a:t>Speculative Trading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709160" y="31638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Futures &amp; options trading on NYMEX / ICE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4709160" y="35021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F7A"/>
                </a:solidFill>
              </a:rPr>
              <a:t>Global Economic Growth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709160" y="36850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Recession reduces demand; booms increase it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709160" y="40233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F7A"/>
                </a:solidFill>
              </a:rPr>
              <a:t>Inventory Levels (EIA)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709160" y="42062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US inventory reports released every Wednesday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Crude Oil Landscape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965960" cy="73152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F7A"/>
                </a:solidFill>
              </a:rPr>
              <a:t>Import Dependence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India imports most of its crude oil requirement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960120"/>
            <a:ext cx="1965960" cy="73152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50592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F7A"/>
                </a:solidFill>
              </a:rPr>
              <a:t>World's 3rd Largest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Consumer of crude oil globally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960120"/>
            <a:ext cx="1965960" cy="73152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$140B+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F7A"/>
                </a:solidFill>
              </a:rPr>
              <a:t>Annual Crude Bill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18304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Huge forex outflow, affecting CAD &amp; INR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9601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960120"/>
            <a:ext cx="1965960" cy="73152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Russia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03136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F7A"/>
                </a:solidFill>
              </a:rPr>
              <a:t>Top Supplier (2024)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94576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Overtook Saudi Arabia post Ukraine war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606040"/>
            <a:ext cx="8595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Indian Institutions in Crude Oil Sector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17520"/>
          <a:ext cx="8503920" cy="1691640"/>
        </p:xfrm>
        <a:graphic>
          <a:graphicData uri="http://schemas.openxmlformats.org/drawingml/2006/table">
            <a:tbl>
              <a:tblPr/>
              <a:tblGrid>
                <a:gridCol w="4572000"/>
                <a:gridCol w="39319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Institution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ONGC (Oil &amp; Natural Gas Corporation)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Exploration &amp; production of crude oil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Indian Oil Corporation (IOC)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Refining, marketing, pipelines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Bharat Petroleum (BPCL)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Refining, retail petroleum products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PPAC (Petroleum Planning &amp; Analysis Cell)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Monitors oil prices, imports, subsidies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-731520"/>
            <a:ext cx="5943600" cy="5943600"/>
          </a:xfrm>
          <a:prstGeom prst="ellipse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731520"/>
            <a:ext cx="27432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1097280" cy="41148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SECTION 02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4320" y="1874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74320" y="3840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DEE8"/>
                </a:solidFill>
              </a:rPr>
              <a:t>Structure • Instruments • Rate Mechanisms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Foreign Exchange Markets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96012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The Foreign Exchange (Forex/FX) Market is the world's largest financial market where currencies are bought and sold.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Daily trading volume exceeds $7.5 trillion, operating 24×5 across major financial centres: London, New York, Tokyo, Singapore, Mumbai.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2331720"/>
            <a:ext cx="1005840" cy="10058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8229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456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OTC Market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8404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No single central exchange; trading happens between banks, institutions &amp; brokers through electronic networks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18688" y="2148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087368" y="2331720"/>
            <a:ext cx="1005840" cy="10058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2423160"/>
            <a:ext cx="822960" cy="8229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0128" y="3456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Highly Liquid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0128" y="38404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Most liquid market in the world; any currency can be converted instantly at minimal cost (low bid-ask spread)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63056" y="214884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31736" y="2331720"/>
            <a:ext cx="1005840" cy="10058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423160"/>
            <a:ext cx="822960" cy="8229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3456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Continuous Market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54496" y="38404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Operates 24 hours across time zones: Sydney → Tokyo → London → New York forming a continuous cycle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of the Forex Market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00200" y="960120"/>
            <a:ext cx="594360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83080" y="101498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1: Interbank 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34416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EE8"/>
                </a:solidFill>
              </a:rPr>
              <a:t>Major global banks — Citibank, HSBC, JPMorgan, Deutsche Bank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80160" y="1920240"/>
            <a:ext cx="6583680" cy="749808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197510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2: Electronic Brokers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30428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EE8"/>
                </a:solidFill>
              </a:rPr>
              <a:t>EBS (Electronic Broking System), Reuters Matching — connect banks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7315200" cy="74980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293522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3: Commercial Banks &amp; Dealers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26440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EE8"/>
                </a:solidFill>
              </a:rPr>
              <a:t>Regional banks serving corporations, governments, smaller institutions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8412480" cy="749808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8953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4: Retail Clients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EE8"/>
                </a:solidFill>
              </a:rPr>
              <a:t>Corporates, exporters/importers, retail traders, tourists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In India: RBI regulates the forex market. Authorised Dealers (Banks) are the main intermediaries under FEMA, 1999.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 Rate Mechanisms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Fixed Exchange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EE8"/>
                </a:solidFill>
              </a:rPr>
              <a:t>Currency pegged to another (e.g. USD). Central bank buys/sells reserves to maintain the peg. Example: Saudi Riyal pegged to USD at 3.75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960120"/>
            <a:ext cx="2743200" cy="1691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Floating Exchange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55848" y="14630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EE8"/>
                </a:solidFill>
              </a:rPr>
              <a:t>Market forces (supply &amp; demand) determine the rate. Most major currencies (USD, EUR, JPY). India follows a managed float.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63056" y="960120"/>
            <a:ext cx="2743200" cy="16916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0216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Managed Float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0216" y="14630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EE8"/>
                </a:solidFill>
              </a:rPr>
              <a:t>RBI intervenes occasionally to prevent excessive volatility. India's system — INR floats freely but RBI intervenes when needed.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8595360" cy="36576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Determinants of Exchange Rates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46120"/>
          <a:ext cx="8503920" cy="1463040"/>
        </p:xfrm>
        <a:graphic>
          <a:graphicData uri="http://schemas.openxmlformats.org/drawingml/2006/table">
            <a:tbl>
              <a:tblPr/>
              <a:tblGrid>
                <a:gridCol w="4114800"/>
                <a:gridCol w="4389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Factor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Effect on INR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Rising Crude Oil Prices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INR weakens — more USD needed to pay oil import bill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Increase in Foreign Investments (FII)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INR strengthens — USD inflows increase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Higher US Interest Rates (Fed)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INR weakens — capital flows to USD assets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India's Export Growth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3A"/>
                          </a:solidFill>
                        </a:rPr>
                        <a:t>INR strengthens — more USD earned by exporters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Exchange Instruments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713232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149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Spot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624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0"/>
                </a:solidFill>
              </a:rPr>
              <a:t>Settlement: T+2 days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06040" y="9966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Exchange of currencies at current market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56032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051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Immediate need — importers/exporters settling trade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83080"/>
            <a:ext cx="109728" cy="713232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37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Forward Contracts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854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0"/>
                </a:solidFill>
              </a:rPr>
              <a:t>Settlement: As agreed (weeks/months)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06040" y="1819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Agreement to exchange currency at a future date at today's fixed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874520"/>
            <a:ext cx="256032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Hedging against exchange rate risk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06040"/>
            <a:ext cx="109728" cy="713232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60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Currency Futures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0083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0"/>
                </a:solidFill>
              </a:rPr>
              <a:t>Settlement: Last Thursday of expiry month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2642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Standardized forward contracts traded on an exchange (NSE/BSE)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697480"/>
            <a:ext cx="256032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Speculation &amp; hedging by corporations and traders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429000"/>
            <a:ext cx="109728" cy="713232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838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Currency Options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8313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0"/>
                </a:solidFill>
              </a:rPr>
              <a:t>Settlement: Exercise date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06040" y="34655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Right (not obligation) to buy/sell currency at a predetermined rate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520440"/>
            <a:ext cx="256032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Downside protection while allowing upside benefit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25196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251960"/>
            <a:ext cx="109728" cy="713232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068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Currency Swaps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6542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80"/>
                </a:solidFill>
              </a:rPr>
              <a:t>Settlement: As per agreement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606040" y="4288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Simultaneous buying &amp; selling of same currency for different maturities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4343400"/>
            <a:ext cx="256032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343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0"/>
                </a:solidFill>
              </a:rPr>
              <a:t>Long-term forex exposure management by MNCs &amp; banks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-1371600"/>
            <a:ext cx="6858000" cy="6858000"/>
          </a:xfrm>
          <a:prstGeom prst="ellipse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31520"/>
            <a:ext cx="27432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80160"/>
            <a:ext cx="109728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SECTION 03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8745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Crude Oil–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Forex Nexus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7432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DEE8"/>
                </a:solidFill>
              </a:rPr>
              <a:t>Petrodollar • Impact on INR • Hedging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Petrodollar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Since 1973, global crude oil is priced and traded in US Dollars (USD). This creates a structural link between oil markets and forex markets — a system known as the Petrodollar.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192024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01168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Country Buys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Crude Oil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6517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Needs USD first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40280" y="224028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71E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8745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874520"/>
            <a:ext cx="1920240" cy="914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01168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Buys USD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in Forex Mkt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26517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Domestic currency sold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0" y="224028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71E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17720" y="18745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874520"/>
            <a:ext cx="192024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201168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Pays Oil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Exporter in USD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90872" y="26517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e.g. Saudi Arabia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37960" y="224028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71E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66560" y="18745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874520"/>
            <a:ext cx="1920240" cy="914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01168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Exporter Invests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USD Surplus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39712" y="26517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0"/>
                </a:solidFill>
              </a:rPr>
              <a:t>In US treasuries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337560"/>
            <a:ext cx="8595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Implications of the Petrodollar for India</a:t>
            </a:r>
            <a:endParaRPr lang="en-US" sz="12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749040"/>
            <a:ext cx="182880" cy="1828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40080" y="3721608"/>
            <a:ext cx="8092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India must earn or buy USD to pay for crude oil — creating chronic demand for USD</a:t>
            </a:r>
            <a:endParaRPr lang="en-US" sz="1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05072"/>
            <a:ext cx="182880" cy="1828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40080" y="3977640"/>
            <a:ext cx="8092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Rising oil prices → higher USD demand → INR weakens (depreciates against USD)</a:t>
            </a:r>
            <a:endParaRPr lang="en-US" sz="10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261104"/>
            <a:ext cx="182880" cy="1828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40080" y="4233672"/>
            <a:ext cx="8092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India's forex reserves (held in USD) act as a buffer to manage oil payment shocks</a:t>
            </a:r>
            <a:endParaRPr lang="en-US" sz="10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517136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0080" y="4489704"/>
            <a:ext cx="8092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A3A"/>
                </a:solidFill>
              </a:rPr>
              <a:t>Any shift away from petrodollar (e.g., India–Russia trade in INR/Ruble) has major policy implications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of Crude Oil Prices on INR/USD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394960" y="960120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886200"/>
            <a:ext cx="859536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7764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Key Insight: India's Current Account Deficit (CAD) widens significantly when crude prices rise, putting downward pressure on INR. A $10/bbl increase in crude prices widens India's CAD by ~$15 billion annually.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Hedging Against Crude Oil–Forex Risk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09728" cy="804672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Currency Forward Contracts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Who uses it: Importers (Oil PSUs, Airlines)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A3A"/>
                </a:solidFill>
              </a:rPr>
              <a:t>How: Lock in USD/INR rate today for future oil payment — eliminates forex uncertainty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1298448"/>
            <a:ext cx="274320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2984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⚠ Risk: Miss out if INR strengthens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75104"/>
            <a:ext cx="109728" cy="804672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208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Currency Options (Put/Call)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2951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Who uses it: Exporters &amp; Corporate Treasuries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49631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A3A"/>
                </a:solidFill>
              </a:rPr>
              <a:t>How: Buy USD call option — if INR weakens, exercise option; if INR strengthens, let it lapse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2267712"/>
            <a:ext cx="274320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26771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⚠ Risk: Premium cost; complex pricing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44368"/>
            <a:ext cx="109728" cy="804672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90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Oil Price Futures (MCX/NYMEX)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2644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Who uses it: Refineries, Aviation Companies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465576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A3A"/>
                </a:solidFill>
              </a:rPr>
              <a:t>How: Buy crude oil futures to lock in procurement price; protects against price spike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3236976"/>
            <a:ext cx="274320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323697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⚠ Risk: Margin calls if price falls sharply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913632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913632"/>
            <a:ext cx="109728" cy="804672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59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Natural Hedging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2336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Who uses it: MNCs with India operations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43484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A3A"/>
                </a:solidFill>
              </a:rPr>
              <a:t>How: Match USD revenues (exports) against USD costs (oil import) to offset exposure naturally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4206240"/>
            <a:ext cx="274320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42062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⚠ Risk: Requires balanced exposure across geographies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F2D5C"/>
          </a:solidFill>
          <a:ln w="12700">
            <a:solidFill>
              <a:srgbClr val="0F2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57200"/>
            <a:ext cx="22860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1097280" cy="41148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SECTION 04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783080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74320" y="3108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</a:rPr>
              <a:t>Connecting Crude Oil Markets to Foreign Exchange Dynamics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42062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EE8"/>
                </a:solidFill>
              </a:rPr>
              <a:t>References &amp; Further Reading in the next slide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33272"/>
            <a:ext cx="384048" cy="384048"/>
          </a:xfrm>
          <a:prstGeom prst="ellipse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96012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960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Crude oil is the world's most traded commodity; Brent, WTI, and Dubai Crude are the main benchmarks globally.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384048" cy="384048"/>
          </a:xfrm>
          <a:prstGeom prst="ellipse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627632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162763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The Petrodollar system means all crude oil is priced in USD, creating a permanent structural link between oil prices and forex markets.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68296"/>
            <a:ext cx="384048" cy="384048"/>
          </a:xfrm>
          <a:prstGeom prst="ellipse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295144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229514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India imports 85%+ of its crude requirements, making it highly vulnerable to oil price shocks which directly weaken the INR.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384048" cy="384048"/>
          </a:xfrm>
          <a:prstGeom prst="ellipse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2962656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296265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The Forex market is the world's largest OTC financial market ($7.5 trillion/day) with spot, forward, futures, options and swap instruments.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384048" cy="384048"/>
          </a:xfrm>
          <a:prstGeom prst="ellipse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3630168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36301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Rising crude prices → higher USD demand → INR depreciation → imported inflation — this chain affects RBI monetary policy.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370832"/>
            <a:ext cx="384048" cy="384048"/>
          </a:xfrm>
          <a:prstGeom prst="ellipse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" y="429768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A3A"/>
                </a:solidFill>
              </a:rPr>
              <a:t>Companies hedge oil-forex risk via forward contracts, currency options, crude futures, and natural hedging strategies.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Further Reading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977640" cy="384048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📚 Prescribed Books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A3A"/>
                </a:solidFill>
              </a:rPr>
              <a:t>Pathak Bharti (2022). Indian Financial System, 5e — Pearson. (Ch 10: Forex, Ch 4: Money Market)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2148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A3A"/>
                </a:solidFill>
              </a:rPr>
              <a:t>Saunders &amp; Cornett (2021). Financial Markets &amp; Institutions, 7e — McGraw Hill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7180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" y="2926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A3A"/>
                </a:solidFill>
              </a:rPr>
              <a:t>Vinod Kumar, Manmeet Kaur &amp; Atul Gupta (2022). Financial Markets, Institutions &amp; Services — Taxmann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74904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A3A"/>
                </a:solidFill>
              </a:rPr>
              <a:t>Desai V. (2016). Financial Markets &amp; Financial Services — Himalaya Publishing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526280" y="914400"/>
            <a:ext cx="4343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526280" y="914400"/>
            <a:ext cx="4343400" cy="384048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617720" y="9144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🌐 Web &amp; Research References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663440" y="1417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RBI Forex Market Data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663440" y="166420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www.rbi.org.in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663440" y="2057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PPAC Oil Data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663440" y="230428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ppac.gov.in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663440" y="26974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BIS Forex Market Report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663440" y="294436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www.bis.org/publ/work1094.pdf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663440" y="33375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Bajaj Finserv — Forex Markets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663440" y="358444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www.bajajfinserv.in/foreign-exchange-markets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663440" y="39776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Investopedia — Crude Oil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663440" y="422452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</a:rPr>
              <a:t>www.investopedia.com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EE8"/>
                </a:solidFill>
              </a:rPr>
              <a:t>Financial Institutions, Markets &amp; Services  |  24COM4373  |  Chitkara Business School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D4871E"/>
          </a:solidFill>
          <a:ln w="12700">
            <a:solidFill>
              <a:srgbClr val="D487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A3F7A"/>
          </a:solidFill>
          <a:ln w="12700">
            <a:solidFill>
              <a:srgbClr val="1A3F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0" y="2697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A623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CHITKARA BUSINESS SCHOOL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Financial Institutions, Markets &amp; Services  |  24COM4373  |  Session Jan-Jun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39776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Presented by: B.Com / B.Com ACCA – Semester 4 | Course Coordinators: Dr. Kiran Sood / Dr. Shivani Inder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Crude Oil &amp; Foreign Exchange Markets</dc:title>
  <dc:subject>PptxGenJS Presentation</dc:subject>
  <dc:creator>Chitkara Business School</dc:creator>
  <cp:lastModifiedBy>Chitkara Business School</cp:lastModifiedBy>
  <cp:revision>1</cp:revision>
  <dcterms:created xsi:type="dcterms:W3CDTF">2026-03-30T14:49:55Z</dcterms:created>
  <dcterms:modified xsi:type="dcterms:W3CDTF">2026-03-30T14:49:55Z</dcterms:modified>
</cp:coreProperties>
</file>