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9142" autoAdjust="0"/>
  </p:normalViewPr>
  <p:slideViewPr>
    <p:cSldViewPr snapToGrid="0" snapToObjects="1">
      <p:cViewPr>
        <p:scale>
          <a:sx n="100" d="100"/>
          <a:sy n="100" d="100"/>
        </p:scale>
        <p:origin x="946" y="-4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F3C"/>
                </a:solidFill>
                <a:latin typeface="Arial"/>
              </a:defRPr>
            </a:pPr>
            <a:r>
              <a:rPr lang="en-US" sz="1200" b="0" i="0" u="none" strike="noStrike">
                <a:solidFill>
                  <a:srgbClr val="0D1F3C"/>
                </a:solidFill>
                <a:latin typeface="Arial"/>
              </a:rPr>
              <a:t>Brent Crude Oil Price (USD/bbl)</a:t>
            </a:r>
          </a:p>
        </c:rich>
      </c:tx>
      <c:overlay val="0"/>
    </c:title>
    <c:autoTitleDeleted val="0"/>
    <c:plotArea>
      <c:layout/>
      <c:barChart>
        <c:barDir val="col"/>
        <c:grouping val="clustered"/>
        <c:varyColors val="0"/>
        <c:ser>
          <c:idx val="0"/>
          <c:order val="0"/>
          <c:tx>
            <c:strRef>
              <c:f>Sheet1!$B$1</c:f>
              <c:strCache>
                <c:ptCount val="1"/>
                <c:pt idx="0">
                  <c:v>Brent Crude (USD/bbl)</c:v>
                </c:pt>
              </c:strCache>
            </c:strRef>
          </c:tx>
          <c:spPr>
            <a:solidFill>
              <a:srgbClr val="1B7FA6"/>
            </a:solidFill>
            <a:effectLst/>
          </c:spPr>
          <c:invertIfNegative val="0"/>
          <c:dLbls>
            <c:numFmt formatCode="#,##0" sourceLinked="0"/>
            <c:spPr>
              <a:noFill/>
              <a:ln>
                <a:noFill/>
              </a:ln>
              <a:effectLst/>
            </c:spPr>
            <c:txPr>
              <a:bodyPr/>
              <a:lstStyle/>
              <a:p>
                <a:pPr>
                  <a:defRPr sz="1200" b="0" i="0" u="none" strike="noStrike">
                    <a:solidFill>
                      <a:srgbClr val="0D1F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2018</c:v>
                </c:pt>
                <c:pt idx="1">
                  <c:v>2019</c:v>
                </c:pt>
                <c:pt idx="2">
                  <c:v>2020</c:v>
                </c:pt>
                <c:pt idx="3">
                  <c:v>2021</c:v>
                </c:pt>
                <c:pt idx="4">
                  <c:v>2022</c:v>
                </c:pt>
                <c:pt idx="5">
                  <c:v>2023</c:v>
                </c:pt>
                <c:pt idx="6">
                  <c:v>2024</c:v>
                </c:pt>
              </c:strCache>
            </c:strRef>
          </c:cat>
          <c:val>
            <c:numRef>
              <c:f>Sheet1!$B$2:$B$8</c:f>
              <c:numCache>
                <c:formatCode>General</c:formatCode>
                <c:ptCount val="7"/>
                <c:pt idx="0">
                  <c:v>71</c:v>
                </c:pt>
                <c:pt idx="1">
                  <c:v>64</c:v>
                </c:pt>
                <c:pt idx="2">
                  <c:v>42</c:v>
                </c:pt>
                <c:pt idx="3">
                  <c:v>70</c:v>
                </c:pt>
                <c:pt idx="4">
                  <c:v>101</c:v>
                </c:pt>
                <c:pt idx="5">
                  <c:v>83</c:v>
                </c:pt>
                <c:pt idx="6">
                  <c:v>80</c:v>
                </c:pt>
              </c:numCache>
            </c:numRef>
          </c:val>
          <c:extLst>
            <c:ext xmlns:c16="http://schemas.microsoft.com/office/drawing/2014/chart" uri="{C3380CC4-5D6E-409C-BE32-E72D297353CC}">
              <c16:uniqueId val="{00000000-D9CB-4364-A4B5-FF7991C0D55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F3C"/>
                </a:solidFill>
                <a:latin typeface="Arial"/>
              </a:defRPr>
            </a:pPr>
            <a:r>
              <a:rPr lang="en-US" sz="1200" b="0" i="0" u="none" strike="noStrike">
                <a:solidFill>
                  <a:srgbClr val="0D1F3C"/>
                </a:solidFill>
                <a:latin typeface="Arial"/>
              </a:rPr>
              <a:t>INR/USD Rate (Annual Avg)</a:t>
            </a:r>
          </a:p>
        </c:rich>
      </c:tx>
      <c:overlay val="0"/>
    </c:title>
    <c:autoTitleDeleted val="0"/>
    <c:plotArea>
      <c:layout/>
      <c:lineChart>
        <c:grouping val="standard"/>
        <c:varyColors val="0"/>
        <c:ser>
          <c:idx val="0"/>
          <c:order val="0"/>
          <c:tx>
            <c:strRef>
              <c:f>Sheet1!$B$1</c:f>
              <c:strCache>
                <c:ptCount val="1"/>
                <c:pt idx="0">
                  <c:v>INR/USD Exchange Rate</c:v>
                </c:pt>
              </c:strCache>
            </c:strRef>
          </c:tx>
          <c:spPr>
            <a:ln w="38100" cap="flat">
              <a:solidFill>
                <a:srgbClr val="C9943A"/>
              </a:solidFill>
              <a:prstDash val="solid"/>
              <a:round/>
            </a:ln>
            <a:effectLst/>
          </c:spPr>
          <c:marker>
            <c:symbol val="circle"/>
            <c:size val="6"/>
            <c:spPr>
              <a:solidFill>
                <a:srgbClr val="C9943A"/>
              </a:solidFill>
              <a:ln w="9525" cap="flat">
                <a:solidFill>
                  <a:srgbClr val="C9943A"/>
                </a:solidFill>
                <a:prstDash val="solid"/>
                <a:round/>
              </a:ln>
              <a:effectLst/>
            </c:spPr>
          </c:marker>
          <c:dLbls>
            <c:numFmt formatCode="#,##0" sourceLinked="0"/>
            <c:spPr>
              <a:noFill/>
              <a:ln>
                <a:noFill/>
              </a:ln>
              <a:effectLst/>
            </c:spPr>
            <c:txPr>
              <a:bodyPr/>
              <a:lstStyle/>
              <a:p>
                <a:pPr>
                  <a:defRPr sz="1200" b="0" i="0" u="none" strike="noStrike">
                    <a:solidFill>
                      <a:srgbClr val="0D1F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2018</c:v>
                </c:pt>
                <c:pt idx="1">
                  <c:v>2019</c:v>
                </c:pt>
                <c:pt idx="2">
                  <c:v>2020</c:v>
                </c:pt>
                <c:pt idx="3">
                  <c:v>2021</c:v>
                </c:pt>
                <c:pt idx="4">
                  <c:v>2022</c:v>
                </c:pt>
                <c:pt idx="5">
                  <c:v>2023</c:v>
                </c:pt>
                <c:pt idx="6">
                  <c:v>2024</c:v>
                </c:pt>
              </c:strCache>
            </c:strRef>
          </c:cat>
          <c:val>
            <c:numRef>
              <c:f>Sheet1!$B$2:$B$8</c:f>
              <c:numCache>
                <c:formatCode>General</c:formatCode>
                <c:ptCount val="7"/>
                <c:pt idx="0">
                  <c:v>68.400000000000006</c:v>
                </c:pt>
                <c:pt idx="1">
                  <c:v>70.400000000000006</c:v>
                </c:pt>
                <c:pt idx="2">
                  <c:v>74.099999999999994</c:v>
                </c:pt>
                <c:pt idx="3">
                  <c:v>73.900000000000006</c:v>
                </c:pt>
                <c:pt idx="4">
                  <c:v>78.599999999999994</c:v>
                </c:pt>
                <c:pt idx="5">
                  <c:v>82.6</c:v>
                </c:pt>
                <c:pt idx="6">
                  <c:v>83.5</c:v>
                </c:pt>
              </c:numCache>
            </c:numRef>
          </c:val>
          <c:smooth val="1"/>
          <c:extLst>
            <c:ext xmlns:c16="http://schemas.microsoft.com/office/drawing/2014/chart" uri="{C3380CC4-5D6E-409C-BE32-E72D297353CC}">
              <c16:uniqueId val="{00000000-31B7-4C4D-B2DF-BB066CD82C40}"/>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in val="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08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Today, we'll be presenting on a topic that connects two of the biggest forces in the global economy — crude oil and foreign exchange markets. These two might seem like separate things, but they are deeply interlinked. In fact, the forex market moves about 7.5 trillion dollars every single day, and a huge chunk of that movement is directly influenced by oil. India alone imports over 85% of its crude oil, which means what happens in oil markets has a very real impact on our currency and our economy. So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roadmap of what we'll cover today. I'll start by explaining what crude oil markets actually are — the types, structure, and how prices are set. Then I'll move into foreign exchange markets — how they work and what instruments are used. After that, we'll look at the most important part — the direct connection between oil prices and exchange rates, including how it affects India's rupee. And finally, we'll wrap up with some key takeaways. Think of it as four building blocks — each one supports the next.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with Section One — Crude Oil Markets. Before we can understand how oil affects currencies, we need to know what oil is, how it's traded, and what drives its price.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Crude oil is a naturally occurring liquid found underground, made up of hydrocarbons. It's the raw material that gets refined into petrol, diesel, jet fuel, and countless other products. What makes it so important is scale — the global crude oil market is worth around 3 trillion dollars per year, and the world produces close to 100 million barrels every single day. One barrel, by the way, is about 159 </a:t>
            </a:r>
            <a:r>
              <a:rPr lang="en-US" dirty="0" err="1"/>
              <a:t>litres</a:t>
            </a:r>
            <a:r>
              <a:rPr lang="en-US" dirty="0"/>
              <a:t> — that's a useful fact to remember. Another key point is that crude oil is always priced in US dollars. This is what we call the Petrodollar system, and it's a central idea in this presentation. The top producers are the USA, Saudi Arabia, and Russia.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not all crude oil is the same — different oils have different quality and come from different regions. That's why we have benchmarks, which are standard reference prices. The most important one globally is Brent Crude, which comes from the North Sea and is used to price about 67% of the world's oil. Then there's WTI, or West Texas Intermediate, the US benchmark — it's slightly cheaper than Brent, usually by about 2 to 4 dollars per barrel. For India specifically, the relevant benchmark is Dubai/Oman Crude, since most of India's imports come from the Middle East. And finally, OPEC Basket is the average price across all OPEC member countries, which influences their production decisions.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actually sets the price of oil? It's a mix of many players. OPEC+ is the most powerful — it's a cartel that controls about 40% of global supply, so when they decide to cut or increase production, the entire world feels it. Then you have national oil companies like Saudi Aramco and ONGC, international companies like Shell and BP, and commodity exchanges like NYMEX where oil futures are traded. On the pricing side, the biggest factors are supply and demand, geopolitical tensions — like sanctions on Russia or Iran — the strength of the US dollar, and even weekly US inventory reports that come out every Wednesday and move markets instantly.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oil, let's move to Section Two — Foreign Exchange Markets. This is the arena where one currency gets exchanged for another, and it's the largest financial market in the world.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forex market is unlike any other financial market. It trades a staggering 7.5 trillion dollars per day — far more than any stock exchange in the world. It operates 24 hours a day, five days a week, and it's completely decentralized — there's no single building or exchange. Trades happen electronically between banks, institutions, and brokers. The cycle flows through Sydney, then Tokyo, then London, then New York, creating a continuous loop around the globe. In India, this market is regulated by the RBI under FEMA, 1999, and commercial banks act as the key intermediaries.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main tools, or instruments, used in the forex market. A Spot Transaction is the simplest — you exchange currencies at today's rate and settle in 2 days. A Forward Contract lets you lock in an exchange rate today for a future date — very useful for companies that know they'll need foreign currency later. Currency Futures are similar but standardized and traded on exchanges like the NSE. Currency Options give you the right, but not the obligation, to exchange at a set rate — they offer protection with flexibility. And finally, Currency Swaps are used by big companies and banks to manage long-term currency exposure by swapping currencies back and forth over different time periods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comes the most interesting part — Section Three, where we connect everything. This is where oil and forex actually meet — through the Petrodollar system, its impact on India's rupee, and the strategies companies use to manage that risk.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since 1973, all crude oil in the world is priced and paid for in US dollars. This creates a permanent structural link between oil and the dollar. Here's how it works in a simple loop — a country that needs oil has to first buy US dollars in the forex market, then use those dollars to pay the oil exporter. The exporter then typically invests those dollars back into US treasuries or other dollar assets. For India, this means we must constantly earn or purchase dollars to pay our oil bill. When oil prices rise, we need more dollars, which increases demand for USD and weakens the Indian Rupee. India is also exploring INR-Ruble trade with Russia as a way to reduce this dependency.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direct cause-and-effect relationship. When oil prices rise, countries like India that import oil must spend more dollars — this puts pressure on their currencies. The INR weakens against the dollar, imported goods become more expensive, and we see imported inflation. The Current Account Deficit, or CAD, widens. The RBI may then have to hike interest rates or sell dollars from reserves to defend the rupee. On the flip side, for oil-exporting nations like Saudi Arabia or Russia, high oil prices bring in more dollar revenues — but falling prices hurt them badly, weakening their currencies like the Ruble or Riyal and causing budget deficits.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some numbers to India's situation. India imports more than 85% of its crude oil, making it the world's third largest consumer. Our annual crude oil bill is over 140 billion US dollars. As of 2024, Russia has become our top supplier, largely due to discounted prices after sanctions. Key institutions managing this include ONGC for domestic production, Indian Oil Corporation for refining, BPCL for retail, and PPAC for monitoring prices and imports. Here's a key insight worth remembering — every time crude prices rise by just 10 dollars per barrel, India's Current Account Deficit widens by approximately 15 billion dollars. That's how vulnerable the rupee is to oil price movements.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real data, and the pattern is very clear. Look at 2020 — when oil prices crashed to around 42 dollars during COVID, the rupee still weakened slightly due to other economic pressures. Then in 2022, when Brent shot up to 101 dollars due to the Russia-Ukraine war, the INR/USD rate also jumped to 78.6 — meaning the rupee fell sharply. By 2024, with crude around 80 dollars, the rupee was at 83.5 per dollar. The trend confirms what the theory says — rising oil prices and a weakening rupee go hand in hand. This is not a coincidence; it's a structural relationship driven by the petrodollar system.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countries manage their currencies the same way. A Fixed Rate system means a country pegs its currency to another — like Saudi Arabia pegging its Riyal to the US dollar at 3.75. A Floating Rate system means the market decides — like the US dollar or Euro. India uses a Managed Float — the rupee floats based on market forces, but the RBI steps in when there's excessive volatility to prevent sharp swings. Beyond oil, the rupee is also influenced by FII and </a:t>
            </a:r>
            <a:r>
              <a:rPr lang="en-US" dirty="0" err="1"/>
              <a:t>FDIinflows</a:t>
            </a:r>
            <a:r>
              <a:rPr lang="en-US" dirty="0"/>
              <a:t> which strengthen it, US Federal Reserve interest rate hikes which weaken it by pulling capital out of India, and India's own export performance which brings in more dollars and supports the rupee.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companies protect themselves from all this risk? There are four main hedging strategies. First, Currency Forward Contracts — oil PSUs and airlines can lock in a fixed exchange rate today for future dollar payments, eliminating uncertainty. Second, Currency Options — a company can buy a USD call option, which lets them buy dollars at a set rate if the rupee falls, but they can ignore it if the rupee strengthens. Third, Crude Oil Futures on MCX or NYMEX — refineries and airlines can lock in their fuel procurement price to protect against sudden oil price spikes. And fourth, Natural Hedging — MNCs that both earn and spend in USD can offset their exposure without any financial instrument at all.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quickly bring everything together. The Petrodollar system — established in 1973 — is the root cause of the oil-forex connection, creating permanent structural demand for US dollars. India is highly vulnerable because of its massive import dependence — every 10-dollar rise in oil costs us 15 billion dollars in CAD widening. The forex market itself, at 7.5 trillion dollars a day, uses instruments like spot deals, forwards, futures, options, and swaps to facilitate and manage this exposure. And on the hedging front, companies and PSUs have tools available — they just need to use them wisely. The bigger policy picture is that India's managed float regime, its forex reserves, and experiments like the INR-Ruble trade are all strategic responses to reduce dependence on the petrodollar.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the presentation. To summarize in one line — oil and currency markets are two sides of the same coin, and for a country like India, understanding this relationship is not just academic — it has real consequences for inflation, the rupee, and the broader economy. </a:t>
            </a:r>
            <a:r>
              <a:rPr lang="en-US"/>
              <a:t>We </a:t>
            </a:r>
            <a:r>
              <a:rPr lang="en-US" dirty="0"/>
              <a:t>happy to take any questions.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943A"/>
          </a:solidFill>
          <a:ln/>
        </p:spPr>
      </p:sp>
      <p:sp>
        <p:nvSpPr>
          <p:cNvPr id="3" name="Shape 1"/>
          <p:cNvSpPr/>
          <p:nvPr/>
        </p:nvSpPr>
        <p:spPr>
          <a:xfrm>
            <a:off x="6035040" y="0"/>
            <a:ext cx="3108960" cy="5143500"/>
          </a:xfrm>
          <a:prstGeom prst="rect">
            <a:avLst/>
          </a:prstGeom>
          <a:solidFill>
            <a:srgbClr val="132952"/>
          </a:solidFill>
          <a:ln/>
        </p:spPr>
      </p:sp>
      <p:sp>
        <p:nvSpPr>
          <p:cNvPr id="4" name="Shape 2"/>
          <p:cNvSpPr/>
          <p:nvPr/>
        </p:nvSpPr>
        <p:spPr>
          <a:xfrm>
            <a:off x="6035040" y="2377440"/>
            <a:ext cx="3108960" cy="64008"/>
          </a:xfrm>
          <a:prstGeom prst="rect">
            <a:avLst/>
          </a:prstGeom>
          <a:solidFill>
            <a:srgbClr val="C9943A"/>
          </a:solidFill>
          <a:ln/>
        </p:spPr>
      </p:sp>
      <p:sp>
        <p:nvSpPr>
          <p:cNvPr id="5" name="Shape 3"/>
          <p:cNvSpPr/>
          <p:nvPr/>
        </p:nvSpPr>
        <p:spPr>
          <a:xfrm>
            <a:off x="6675120" y="457200"/>
            <a:ext cx="1463040" cy="1463040"/>
          </a:xfrm>
          <a:prstGeom prst="ellipse">
            <a:avLst/>
          </a:prstGeom>
          <a:solidFill>
            <a:srgbClr val="C9943A">
              <a:alpha val="13000"/>
            </a:srgbClr>
          </a:solidFill>
          <a:ln/>
        </p:spPr>
      </p:sp>
      <p:sp>
        <p:nvSpPr>
          <p:cNvPr id="6" name="Shape 4"/>
          <p:cNvSpPr/>
          <p:nvPr/>
        </p:nvSpPr>
        <p:spPr>
          <a:xfrm>
            <a:off x="7406640" y="3108960"/>
            <a:ext cx="1005840" cy="1005840"/>
          </a:xfrm>
          <a:prstGeom prst="ellipse">
            <a:avLst/>
          </a:prstGeom>
          <a:solidFill>
            <a:srgbClr val="1B7FA6">
              <a:alpha val="18000"/>
            </a:srgbClr>
          </a:solidFill>
          <a:ln/>
        </p:spPr>
      </p:sp>
      <p:sp>
        <p:nvSpPr>
          <p:cNvPr id="7" name="Text 5"/>
          <p:cNvSpPr/>
          <p:nvPr/>
        </p:nvSpPr>
        <p:spPr>
          <a:xfrm>
            <a:off x="365760" y="365760"/>
            <a:ext cx="5486400" cy="320040"/>
          </a:xfrm>
          <a:prstGeom prst="rect">
            <a:avLst/>
          </a:prstGeom>
          <a:noFill/>
          <a:ln/>
        </p:spPr>
        <p:txBody>
          <a:bodyPr wrap="square" rtlCol="0" anchor="ctr"/>
          <a:lstStyle/>
          <a:p>
            <a:pPr marL="0" indent="0">
              <a:buNone/>
            </a:pPr>
            <a:r>
              <a:rPr lang="en-US" sz="900" b="1" kern="0" spc="200" dirty="0">
                <a:solidFill>
                  <a:srgbClr val="E8B455"/>
                </a:solidFill>
                <a:latin typeface="Calibri" pitchFamily="34" charset="0"/>
                <a:ea typeface="Calibri" pitchFamily="34" charset="-122"/>
                <a:cs typeface="Calibri" pitchFamily="34" charset="-120"/>
              </a:rPr>
              <a:t>FINANCIAL INSTITUTIONS, MARKETS &amp; SERVICES</a:t>
            </a:r>
            <a:endParaRPr lang="en-US" sz="900" dirty="0"/>
          </a:p>
        </p:txBody>
      </p:sp>
      <p:sp>
        <p:nvSpPr>
          <p:cNvPr id="8" name="Text 6"/>
          <p:cNvSpPr/>
          <p:nvPr/>
        </p:nvSpPr>
        <p:spPr>
          <a:xfrm>
            <a:off x="365760" y="914400"/>
            <a:ext cx="5486400" cy="594360"/>
          </a:xfrm>
          <a:prstGeom prst="rect">
            <a:avLst/>
          </a:prstGeom>
          <a:noFill/>
          <a:ln/>
        </p:spPr>
        <p:txBody>
          <a:bodyPr wrap="square" rtlCol="0" anchor="ctr"/>
          <a:lstStyle/>
          <a:p>
            <a:pPr marL="0" indent="0">
              <a:buNone/>
            </a:pPr>
            <a:r>
              <a:rPr lang="en-US" sz="3600" i="1" dirty="0">
                <a:solidFill>
                  <a:srgbClr val="FFFFFF"/>
                </a:solidFill>
                <a:latin typeface="Georgia" pitchFamily="34" charset="0"/>
                <a:ea typeface="Georgia" pitchFamily="34" charset="-122"/>
                <a:cs typeface="Georgia" pitchFamily="34" charset="-120"/>
              </a:rPr>
              <a:t>Impact of</a:t>
            </a:r>
            <a:endParaRPr lang="en-US" sz="3600" dirty="0"/>
          </a:p>
        </p:txBody>
      </p:sp>
      <p:sp>
        <p:nvSpPr>
          <p:cNvPr id="9" name="Text 7"/>
          <p:cNvSpPr/>
          <p:nvPr/>
        </p:nvSpPr>
        <p:spPr>
          <a:xfrm>
            <a:off x="365760" y="1463040"/>
            <a:ext cx="5486400" cy="914400"/>
          </a:xfrm>
          <a:prstGeom prst="rect">
            <a:avLst/>
          </a:prstGeom>
          <a:noFill/>
          <a:ln/>
        </p:spPr>
        <p:txBody>
          <a:bodyPr wrap="square" rtlCol="0" anchor="ctr"/>
          <a:lstStyle/>
          <a:p>
            <a:pPr marL="0" indent="0">
              <a:buNone/>
            </a:pPr>
            <a:r>
              <a:rPr lang="en-US" sz="5600" b="1" dirty="0">
                <a:solidFill>
                  <a:srgbClr val="E8B455"/>
                </a:solidFill>
                <a:latin typeface="Georgia" pitchFamily="34" charset="0"/>
                <a:ea typeface="Georgia" pitchFamily="34" charset="-122"/>
                <a:cs typeface="Georgia" pitchFamily="34" charset="-120"/>
              </a:rPr>
              <a:t>Crude Oil</a:t>
            </a:r>
            <a:endParaRPr lang="en-US" sz="5600" dirty="0"/>
          </a:p>
        </p:txBody>
      </p:sp>
      <p:sp>
        <p:nvSpPr>
          <p:cNvPr id="10" name="Text 8"/>
          <p:cNvSpPr/>
          <p:nvPr/>
        </p:nvSpPr>
        <p:spPr>
          <a:xfrm>
            <a:off x="365760" y="2331720"/>
            <a:ext cx="5486400" cy="685800"/>
          </a:xfrm>
          <a:prstGeom prst="rect">
            <a:avLst/>
          </a:prstGeom>
          <a:noFill/>
          <a:ln/>
        </p:spPr>
        <p:txBody>
          <a:bodyPr wrap="square" rtlCol="0" anchor="ctr"/>
          <a:lstStyle/>
          <a:p>
            <a:pPr marL="0" indent="0">
              <a:buNone/>
            </a:pPr>
            <a:r>
              <a:rPr lang="en-US" sz="2400" dirty="0">
                <a:solidFill>
                  <a:srgbClr val="FFFFFF"/>
                </a:solidFill>
                <a:latin typeface="Georgia" pitchFamily="34" charset="0"/>
                <a:ea typeface="Georgia" pitchFamily="34" charset="-122"/>
                <a:cs typeface="Georgia" pitchFamily="34" charset="-120"/>
              </a:rPr>
              <a:t>on Foreign Exchange Markets</a:t>
            </a:r>
            <a:endParaRPr lang="en-US" sz="2400" dirty="0"/>
          </a:p>
        </p:txBody>
      </p:sp>
      <p:sp>
        <p:nvSpPr>
          <p:cNvPr id="11" name="Shape 9"/>
          <p:cNvSpPr/>
          <p:nvPr/>
        </p:nvSpPr>
        <p:spPr>
          <a:xfrm>
            <a:off x="365760" y="3108960"/>
            <a:ext cx="2194560" cy="45720"/>
          </a:xfrm>
          <a:prstGeom prst="rect">
            <a:avLst/>
          </a:prstGeom>
          <a:solidFill>
            <a:srgbClr val="C9943A"/>
          </a:solidFill>
          <a:ln/>
        </p:spPr>
      </p:sp>
      <p:sp>
        <p:nvSpPr>
          <p:cNvPr id="12" name="Text 10"/>
          <p:cNvSpPr/>
          <p:nvPr/>
        </p:nvSpPr>
        <p:spPr>
          <a:xfrm>
            <a:off x="365760" y="3246120"/>
            <a:ext cx="5486400" cy="365760"/>
          </a:xfrm>
          <a:prstGeom prst="rect">
            <a:avLst/>
          </a:prstGeom>
          <a:noFill/>
          <a:ln/>
        </p:spPr>
        <p:txBody>
          <a:bodyPr wrap="square" rtlCol="0" anchor="ctr"/>
          <a:lstStyle/>
          <a:p>
            <a:pPr marL="0" indent="0">
              <a:buNone/>
            </a:pPr>
            <a:r>
              <a:rPr lang="en-US" sz="1150" i="1" dirty="0">
                <a:solidFill>
                  <a:srgbClr val="8FA3B1"/>
                </a:solidFill>
                <a:latin typeface="Calibri" pitchFamily="34" charset="0"/>
                <a:ea typeface="Calibri" pitchFamily="34" charset="-122"/>
                <a:cs typeface="Calibri" pitchFamily="34" charset="-120"/>
              </a:rPr>
              <a:t>Petrodollar System • FX Mechanisms • INR Impact • Hedging</a:t>
            </a:r>
            <a:endParaRPr lang="en-US" sz="1150" dirty="0"/>
          </a:p>
        </p:txBody>
      </p:sp>
      <p:sp>
        <p:nvSpPr>
          <p:cNvPr id="13" name="Text 11"/>
          <p:cNvSpPr/>
          <p:nvPr/>
        </p:nvSpPr>
        <p:spPr>
          <a:xfrm>
            <a:off x="365760" y="3931920"/>
            <a:ext cx="5486400" cy="731520"/>
          </a:xfrm>
          <a:prstGeom prst="rect">
            <a:avLst/>
          </a:prstGeom>
          <a:noFill/>
          <a:ln/>
        </p:spPr>
        <p:txBody>
          <a:bodyPr wrap="square" rtlCol="0" anchor="ctr"/>
          <a:lstStyle/>
          <a:p>
            <a:pPr marL="0" indent="0">
              <a:buNone/>
            </a:pPr>
            <a:r>
              <a:rPr lang="en-US" sz="1000" dirty="0">
                <a:solidFill>
                  <a:srgbClr val="8FA3B1"/>
                </a:solidFill>
                <a:latin typeface="Calibri" pitchFamily="34" charset="0"/>
                <a:ea typeface="Calibri" pitchFamily="34" charset="-122"/>
                <a:cs typeface="Calibri" pitchFamily="34" charset="-120"/>
              </a:rPr>
              <a:t>Unit 3  |  Lectures 31–33  |  24COM4373</a:t>
            </a:r>
            <a:endParaRPr lang="en-US" sz="1000" dirty="0"/>
          </a:p>
          <a:p>
            <a:pPr marL="0" indent="0">
              <a:buNone/>
            </a:pPr>
            <a:r>
              <a:rPr lang="en-US" sz="1000" dirty="0">
                <a:solidFill>
                  <a:srgbClr val="8FA3B1"/>
                </a:solidFill>
                <a:latin typeface="Calibri" pitchFamily="34" charset="0"/>
                <a:ea typeface="Calibri" pitchFamily="34" charset="-122"/>
                <a:cs typeface="Calibri" pitchFamily="34" charset="-120"/>
              </a:rPr>
              <a:t>Chitkara Business School  |  B.Com &amp; B.Com ACCA  |  4th Semester</a:t>
            </a:r>
            <a:endParaRPr lang="en-US" sz="1000" dirty="0"/>
          </a:p>
        </p:txBody>
      </p:sp>
      <p:sp>
        <p:nvSpPr>
          <p:cNvPr id="14" name="Text 12"/>
          <p:cNvSpPr/>
          <p:nvPr/>
        </p:nvSpPr>
        <p:spPr>
          <a:xfrm>
            <a:off x="6126480" y="640080"/>
            <a:ext cx="2834640" cy="914400"/>
          </a:xfrm>
          <a:prstGeom prst="rect">
            <a:avLst/>
          </a:prstGeom>
          <a:noFill/>
          <a:ln/>
        </p:spPr>
        <p:txBody>
          <a:bodyPr wrap="square" rtlCol="0" anchor="ctr"/>
          <a:lstStyle/>
          <a:p>
            <a:pPr marL="0" indent="0" algn="ctr">
              <a:buNone/>
            </a:pPr>
            <a:r>
              <a:rPr lang="en-US" sz="5000" b="1" dirty="0">
                <a:solidFill>
                  <a:srgbClr val="E8B455"/>
                </a:solidFill>
                <a:latin typeface="Georgia" pitchFamily="34" charset="0"/>
                <a:ea typeface="Georgia" pitchFamily="34" charset="-122"/>
                <a:cs typeface="Georgia" pitchFamily="34" charset="-120"/>
              </a:rPr>
              <a:t>$7.5T</a:t>
            </a:r>
            <a:endParaRPr lang="en-US" sz="5000" dirty="0"/>
          </a:p>
        </p:txBody>
      </p:sp>
      <p:sp>
        <p:nvSpPr>
          <p:cNvPr id="15" name="Text 13"/>
          <p:cNvSpPr/>
          <p:nvPr/>
        </p:nvSpPr>
        <p:spPr>
          <a:xfrm>
            <a:off x="6126480" y="1508760"/>
            <a:ext cx="2834640" cy="320040"/>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Daily FX Market Volume</a:t>
            </a:r>
            <a:endParaRPr lang="en-US" sz="1000" dirty="0"/>
          </a:p>
        </p:txBody>
      </p:sp>
      <p:sp>
        <p:nvSpPr>
          <p:cNvPr id="16" name="Text 14"/>
          <p:cNvSpPr/>
          <p:nvPr/>
        </p:nvSpPr>
        <p:spPr>
          <a:xfrm>
            <a:off x="6126480" y="2514600"/>
            <a:ext cx="2834640" cy="8229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$3T</a:t>
            </a:r>
            <a:endParaRPr lang="en-US" sz="4600" dirty="0"/>
          </a:p>
        </p:txBody>
      </p:sp>
      <p:sp>
        <p:nvSpPr>
          <p:cNvPr id="17" name="Text 15"/>
          <p:cNvSpPr/>
          <p:nvPr/>
        </p:nvSpPr>
        <p:spPr>
          <a:xfrm>
            <a:off x="6126480" y="3291840"/>
            <a:ext cx="2834640" cy="320040"/>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Annual Crude Oil Market</a:t>
            </a:r>
            <a:endParaRPr lang="en-US" sz="1000" dirty="0"/>
          </a:p>
        </p:txBody>
      </p:sp>
      <p:sp>
        <p:nvSpPr>
          <p:cNvPr id="18" name="Text 16"/>
          <p:cNvSpPr/>
          <p:nvPr/>
        </p:nvSpPr>
        <p:spPr>
          <a:xfrm>
            <a:off x="6126480" y="3840480"/>
            <a:ext cx="2834640" cy="320040"/>
          </a:xfrm>
          <a:prstGeom prst="rect">
            <a:avLst/>
          </a:prstGeom>
          <a:noFill/>
          <a:ln/>
        </p:spPr>
        <p:txBody>
          <a:bodyPr wrap="square" rtlCol="0" anchor="ctr"/>
          <a:lstStyle/>
          <a:p>
            <a:pPr marL="0" indent="0" algn="ctr">
              <a:buNone/>
            </a:pPr>
            <a:r>
              <a:rPr lang="en-US" sz="1000" i="1" dirty="0">
                <a:solidFill>
                  <a:srgbClr val="E8B455"/>
                </a:solidFill>
                <a:latin typeface="Calibri" pitchFamily="34" charset="0"/>
                <a:ea typeface="Calibri" pitchFamily="34" charset="-122"/>
                <a:cs typeface="Calibri" pitchFamily="34" charset="-120"/>
              </a:rPr>
              <a:t>India imports 85%+ of crude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Course Agenda &amp; Learning Objectives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4114800" cy="1600200"/>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365760" y="1005840"/>
            <a:ext cx="4114800" cy="73152"/>
          </a:xfrm>
          <a:prstGeom prst="rect">
            <a:avLst/>
          </a:prstGeom>
          <a:solidFill>
            <a:srgbClr val="C9943A"/>
          </a:solidFill>
          <a:ln/>
        </p:spPr>
      </p:sp>
      <p:sp>
        <p:nvSpPr>
          <p:cNvPr id="6" name="Text 4"/>
          <p:cNvSpPr/>
          <p:nvPr/>
        </p:nvSpPr>
        <p:spPr>
          <a:xfrm>
            <a:off x="502920" y="1143000"/>
            <a:ext cx="640080" cy="640080"/>
          </a:xfrm>
          <a:prstGeom prst="rect">
            <a:avLst/>
          </a:prstGeom>
          <a:noFill/>
          <a:ln/>
        </p:spPr>
        <p:txBody>
          <a:bodyPr wrap="square" lIns="0" tIns="0" rIns="0" bIns="0" rtlCol="0" anchor="ctr"/>
          <a:lstStyle/>
          <a:p>
            <a:pPr marL="0" indent="0">
              <a:buNone/>
            </a:pPr>
            <a:r>
              <a:rPr lang="en-US" sz="3200" b="1" dirty="0">
                <a:solidFill>
                  <a:srgbClr val="C9943A"/>
                </a:solidFill>
                <a:latin typeface="Georgia" pitchFamily="34" charset="0"/>
                <a:ea typeface="Georgia" pitchFamily="34" charset="-122"/>
                <a:cs typeface="Georgia" pitchFamily="34" charset="-120"/>
              </a:rPr>
              <a:t>01</a:t>
            </a:r>
            <a:endParaRPr lang="en-US" sz="3200" dirty="0"/>
          </a:p>
        </p:txBody>
      </p:sp>
      <p:sp>
        <p:nvSpPr>
          <p:cNvPr id="7" name="Text 5"/>
          <p:cNvSpPr/>
          <p:nvPr/>
        </p:nvSpPr>
        <p:spPr>
          <a:xfrm>
            <a:off x="1188720" y="1170432"/>
            <a:ext cx="3108960" cy="384048"/>
          </a:xfrm>
          <a:prstGeom prst="rect">
            <a:avLst/>
          </a:prstGeom>
          <a:noFill/>
          <a:ln/>
        </p:spPr>
        <p:txBody>
          <a:bodyPr wrap="square" lIns="0" tIns="0" rIns="0" bIns="0"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Crude Oil Markets</a:t>
            </a:r>
            <a:endParaRPr lang="en-US" sz="1500" dirty="0"/>
          </a:p>
        </p:txBody>
      </p:sp>
      <p:sp>
        <p:nvSpPr>
          <p:cNvPr id="8" name="Text 6"/>
          <p:cNvSpPr/>
          <p:nvPr/>
        </p:nvSpPr>
        <p:spPr>
          <a:xfrm>
            <a:off x="1188720" y="1572768"/>
            <a:ext cx="3108960" cy="73152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Introduction, Types, Structure &amp; Pricing</a:t>
            </a:r>
            <a:endParaRPr lang="en-US" sz="1100" dirty="0"/>
          </a:p>
        </p:txBody>
      </p:sp>
      <p:sp>
        <p:nvSpPr>
          <p:cNvPr id="9" name="Shape 7"/>
          <p:cNvSpPr/>
          <p:nvPr/>
        </p:nvSpPr>
        <p:spPr>
          <a:xfrm>
            <a:off x="4846320" y="1005840"/>
            <a:ext cx="4114800" cy="1600200"/>
          </a:xfrm>
          <a:prstGeom prst="rect">
            <a:avLst/>
          </a:prstGeom>
          <a:solidFill>
            <a:srgbClr val="FFFFFF"/>
          </a:solidFill>
          <a:ln/>
          <a:effectLst>
            <a:outerShdw blurRad="101600" dist="38100" dir="8100000" algn="bl" rotWithShape="0">
              <a:srgbClr val="000000">
                <a:alpha val="18000"/>
              </a:srgbClr>
            </a:outerShdw>
          </a:effectLst>
        </p:spPr>
      </p:sp>
      <p:sp>
        <p:nvSpPr>
          <p:cNvPr id="10" name="Shape 8"/>
          <p:cNvSpPr/>
          <p:nvPr/>
        </p:nvSpPr>
        <p:spPr>
          <a:xfrm>
            <a:off x="4846320" y="1005840"/>
            <a:ext cx="4114800" cy="73152"/>
          </a:xfrm>
          <a:prstGeom prst="rect">
            <a:avLst/>
          </a:prstGeom>
          <a:solidFill>
            <a:srgbClr val="1B7FA6"/>
          </a:solidFill>
          <a:ln/>
        </p:spPr>
      </p:sp>
      <p:sp>
        <p:nvSpPr>
          <p:cNvPr id="11" name="Text 9"/>
          <p:cNvSpPr/>
          <p:nvPr/>
        </p:nvSpPr>
        <p:spPr>
          <a:xfrm>
            <a:off x="4983480" y="1143000"/>
            <a:ext cx="640080" cy="640080"/>
          </a:xfrm>
          <a:prstGeom prst="rect">
            <a:avLst/>
          </a:prstGeom>
          <a:noFill/>
          <a:ln/>
        </p:spPr>
        <p:txBody>
          <a:bodyPr wrap="square" lIns="0" tIns="0" rIns="0" bIns="0" rtlCol="0" anchor="ctr"/>
          <a:lstStyle/>
          <a:p>
            <a:pPr marL="0" indent="0">
              <a:buNone/>
            </a:pPr>
            <a:r>
              <a:rPr lang="en-US" sz="3200" b="1" dirty="0">
                <a:solidFill>
                  <a:srgbClr val="1B7FA6"/>
                </a:solidFill>
                <a:latin typeface="Georgia" pitchFamily="34" charset="0"/>
                <a:ea typeface="Georgia" pitchFamily="34" charset="-122"/>
                <a:cs typeface="Georgia" pitchFamily="34" charset="-120"/>
              </a:rPr>
              <a:t>02</a:t>
            </a:r>
            <a:endParaRPr lang="en-US" sz="3200" dirty="0"/>
          </a:p>
        </p:txBody>
      </p:sp>
      <p:sp>
        <p:nvSpPr>
          <p:cNvPr id="12" name="Text 10"/>
          <p:cNvSpPr/>
          <p:nvPr/>
        </p:nvSpPr>
        <p:spPr>
          <a:xfrm>
            <a:off x="5669280" y="1170432"/>
            <a:ext cx="3108960" cy="384048"/>
          </a:xfrm>
          <a:prstGeom prst="rect">
            <a:avLst/>
          </a:prstGeom>
          <a:noFill/>
          <a:ln/>
        </p:spPr>
        <p:txBody>
          <a:bodyPr wrap="square" lIns="0" tIns="0" rIns="0" bIns="0"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Foreign Exchange Markets</a:t>
            </a:r>
            <a:endParaRPr lang="en-US" sz="1500" dirty="0"/>
          </a:p>
        </p:txBody>
      </p:sp>
      <p:sp>
        <p:nvSpPr>
          <p:cNvPr id="13" name="Text 11"/>
          <p:cNvSpPr/>
          <p:nvPr/>
        </p:nvSpPr>
        <p:spPr>
          <a:xfrm>
            <a:off x="5669280" y="1572768"/>
            <a:ext cx="3108960" cy="73152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Structure, Instruments &amp; Rate Mechanisms</a:t>
            </a:r>
            <a:endParaRPr lang="en-US" sz="1100" dirty="0"/>
          </a:p>
        </p:txBody>
      </p:sp>
      <p:sp>
        <p:nvSpPr>
          <p:cNvPr id="14" name="Shape 12"/>
          <p:cNvSpPr/>
          <p:nvPr/>
        </p:nvSpPr>
        <p:spPr>
          <a:xfrm>
            <a:off x="365760" y="2971800"/>
            <a:ext cx="4114800" cy="1600200"/>
          </a:xfrm>
          <a:prstGeom prst="rect">
            <a:avLst/>
          </a:prstGeom>
          <a:solidFill>
            <a:srgbClr val="FFFFFF"/>
          </a:solidFill>
          <a:ln/>
          <a:effectLst>
            <a:outerShdw blurRad="101600" dist="38100" dir="8100000" algn="bl" rotWithShape="0">
              <a:srgbClr val="000000">
                <a:alpha val="18000"/>
              </a:srgbClr>
            </a:outerShdw>
          </a:effectLst>
        </p:spPr>
      </p:sp>
      <p:sp>
        <p:nvSpPr>
          <p:cNvPr id="15" name="Shape 13"/>
          <p:cNvSpPr/>
          <p:nvPr/>
        </p:nvSpPr>
        <p:spPr>
          <a:xfrm>
            <a:off x="365760" y="2971800"/>
            <a:ext cx="4114800" cy="73152"/>
          </a:xfrm>
          <a:prstGeom prst="rect">
            <a:avLst/>
          </a:prstGeom>
          <a:solidFill>
            <a:srgbClr val="0D1F3C"/>
          </a:solidFill>
          <a:ln/>
        </p:spPr>
      </p:sp>
      <p:sp>
        <p:nvSpPr>
          <p:cNvPr id="16" name="Text 14"/>
          <p:cNvSpPr/>
          <p:nvPr/>
        </p:nvSpPr>
        <p:spPr>
          <a:xfrm>
            <a:off x="502920" y="3108960"/>
            <a:ext cx="640080" cy="640080"/>
          </a:xfrm>
          <a:prstGeom prst="rect">
            <a:avLst/>
          </a:prstGeom>
          <a:noFill/>
          <a:ln/>
        </p:spPr>
        <p:txBody>
          <a:bodyPr wrap="square" lIns="0" tIns="0" rIns="0" bIns="0" rtlCol="0" anchor="ctr"/>
          <a:lstStyle/>
          <a:p>
            <a:pPr marL="0" indent="0">
              <a:buNone/>
            </a:pPr>
            <a:r>
              <a:rPr lang="en-US" sz="3200" b="1" dirty="0">
                <a:solidFill>
                  <a:srgbClr val="0D1F3C"/>
                </a:solidFill>
                <a:latin typeface="Georgia" pitchFamily="34" charset="0"/>
                <a:ea typeface="Georgia" pitchFamily="34" charset="-122"/>
                <a:cs typeface="Georgia" pitchFamily="34" charset="-120"/>
              </a:rPr>
              <a:t>03</a:t>
            </a:r>
            <a:endParaRPr lang="en-US" sz="3200" dirty="0"/>
          </a:p>
        </p:txBody>
      </p:sp>
      <p:sp>
        <p:nvSpPr>
          <p:cNvPr id="17" name="Text 15"/>
          <p:cNvSpPr/>
          <p:nvPr/>
        </p:nvSpPr>
        <p:spPr>
          <a:xfrm>
            <a:off x="1188720" y="3136392"/>
            <a:ext cx="3108960" cy="384048"/>
          </a:xfrm>
          <a:prstGeom prst="rect">
            <a:avLst/>
          </a:prstGeom>
          <a:noFill/>
          <a:ln/>
        </p:spPr>
        <p:txBody>
          <a:bodyPr wrap="square" lIns="0" tIns="0" rIns="0" bIns="0"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Crude Oil – Forex Nexus</a:t>
            </a:r>
            <a:endParaRPr lang="en-US" sz="1500" dirty="0"/>
          </a:p>
        </p:txBody>
      </p:sp>
      <p:sp>
        <p:nvSpPr>
          <p:cNvPr id="18" name="Text 16"/>
          <p:cNvSpPr/>
          <p:nvPr/>
        </p:nvSpPr>
        <p:spPr>
          <a:xfrm>
            <a:off x="1188720" y="3538728"/>
            <a:ext cx="3108960" cy="73152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Petrodollar, INR Impact &amp; Hedging Strategies</a:t>
            </a:r>
            <a:endParaRPr lang="en-US" sz="1100" dirty="0"/>
          </a:p>
        </p:txBody>
      </p:sp>
      <p:sp>
        <p:nvSpPr>
          <p:cNvPr id="19" name="Shape 17"/>
          <p:cNvSpPr/>
          <p:nvPr/>
        </p:nvSpPr>
        <p:spPr>
          <a:xfrm>
            <a:off x="4846320" y="2971800"/>
            <a:ext cx="4114800" cy="1600200"/>
          </a:xfrm>
          <a:prstGeom prst="rect">
            <a:avLst/>
          </a:prstGeom>
          <a:solidFill>
            <a:srgbClr val="FFFFFF"/>
          </a:solidFill>
          <a:ln/>
          <a:effectLst>
            <a:outerShdw blurRad="101600" dist="38100" dir="8100000" algn="bl" rotWithShape="0">
              <a:srgbClr val="000000">
                <a:alpha val="18000"/>
              </a:srgbClr>
            </a:outerShdw>
          </a:effectLst>
        </p:spPr>
      </p:sp>
      <p:sp>
        <p:nvSpPr>
          <p:cNvPr id="20" name="Shape 18"/>
          <p:cNvSpPr/>
          <p:nvPr/>
        </p:nvSpPr>
        <p:spPr>
          <a:xfrm>
            <a:off x="4846320" y="2971800"/>
            <a:ext cx="4114800" cy="73152"/>
          </a:xfrm>
          <a:prstGeom prst="rect">
            <a:avLst/>
          </a:prstGeom>
          <a:solidFill>
            <a:srgbClr val="1A8754"/>
          </a:solidFill>
          <a:ln/>
        </p:spPr>
      </p:sp>
      <p:sp>
        <p:nvSpPr>
          <p:cNvPr id="21" name="Text 19"/>
          <p:cNvSpPr/>
          <p:nvPr/>
        </p:nvSpPr>
        <p:spPr>
          <a:xfrm>
            <a:off x="4983480" y="3108960"/>
            <a:ext cx="640080" cy="640080"/>
          </a:xfrm>
          <a:prstGeom prst="rect">
            <a:avLst/>
          </a:prstGeom>
          <a:noFill/>
          <a:ln/>
        </p:spPr>
        <p:txBody>
          <a:bodyPr wrap="square" lIns="0" tIns="0" rIns="0" bIns="0" rtlCol="0" anchor="ctr"/>
          <a:lstStyle/>
          <a:p>
            <a:pPr marL="0" indent="0">
              <a:buNone/>
            </a:pPr>
            <a:r>
              <a:rPr lang="en-US" sz="3200" b="1" dirty="0">
                <a:solidFill>
                  <a:srgbClr val="1A8754"/>
                </a:solidFill>
                <a:latin typeface="Georgia" pitchFamily="34" charset="0"/>
                <a:ea typeface="Georgia" pitchFamily="34" charset="-122"/>
                <a:cs typeface="Georgia" pitchFamily="34" charset="-120"/>
              </a:rPr>
              <a:t>04</a:t>
            </a:r>
            <a:endParaRPr lang="en-US" sz="3200" dirty="0"/>
          </a:p>
        </p:txBody>
      </p:sp>
      <p:sp>
        <p:nvSpPr>
          <p:cNvPr id="22" name="Text 20"/>
          <p:cNvSpPr/>
          <p:nvPr/>
        </p:nvSpPr>
        <p:spPr>
          <a:xfrm>
            <a:off x="5669280" y="3136392"/>
            <a:ext cx="3108960" cy="384048"/>
          </a:xfrm>
          <a:prstGeom prst="rect">
            <a:avLst/>
          </a:prstGeom>
          <a:noFill/>
          <a:ln/>
        </p:spPr>
        <p:txBody>
          <a:bodyPr wrap="square" lIns="0" tIns="0" rIns="0" bIns="0"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Summary &amp; Takeaways</a:t>
            </a:r>
            <a:endParaRPr lang="en-US" sz="1500" dirty="0"/>
          </a:p>
        </p:txBody>
      </p:sp>
      <p:sp>
        <p:nvSpPr>
          <p:cNvPr id="23" name="Text 21"/>
          <p:cNvSpPr/>
          <p:nvPr/>
        </p:nvSpPr>
        <p:spPr>
          <a:xfrm>
            <a:off x="5669280" y="3538728"/>
            <a:ext cx="3108960" cy="73152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Key Insights &amp; Policy Implications</a:t>
            </a:r>
            <a:endParaRPr lang="en-US" sz="1100" dirty="0"/>
          </a:p>
        </p:txBody>
      </p:sp>
      <p:sp>
        <p:nvSpPr>
          <p:cNvPr id="24" name="Text 22"/>
          <p:cNvSpPr/>
          <p:nvPr/>
        </p:nvSpPr>
        <p:spPr>
          <a:xfrm>
            <a:off x="365760" y="4663440"/>
            <a:ext cx="8412480" cy="256032"/>
          </a:xfrm>
          <a:prstGeom prst="rect">
            <a:avLst/>
          </a:prstGeom>
          <a:noFill/>
          <a:ln/>
        </p:spPr>
        <p:txBody>
          <a:bodyPr wrap="square" rtlCol="0" anchor="ctr"/>
          <a:lstStyle/>
          <a:p>
            <a:pPr marL="0" indent="0" algn="ctr">
              <a:buNone/>
            </a:pPr>
            <a:r>
              <a:rPr lang="en-US" sz="850" i="1" dirty="0">
                <a:solidFill>
                  <a:srgbClr val="8FA3B1"/>
                </a:solidFill>
                <a:latin typeface="Calibri" pitchFamily="34" charset="0"/>
                <a:ea typeface="Calibri" pitchFamily="34" charset="-122"/>
                <a:cs typeface="Calibri" pitchFamily="34" charset="-120"/>
              </a:rPr>
              <a:t>CLO-03: Analyze reliability &amp; validity of money market instruments  |  CLO-04: Assess financing options for wealth maximization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9943A"/>
          </a:solidFill>
          <a:ln/>
        </p:spPr>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300" b="1" kern="0" spc="400" dirty="0">
                <a:solidFill>
                  <a:srgbClr val="E8B455"/>
                </a:solidFill>
                <a:latin typeface="Calibri" pitchFamily="34" charset="0"/>
                <a:ea typeface="Calibri" pitchFamily="34" charset="-122"/>
                <a:cs typeface="Calibri" pitchFamily="34" charset="-120"/>
              </a:rPr>
              <a:t>SECTION 01</a:t>
            </a:r>
            <a:endParaRPr lang="en-US" sz="1300" dirty="0"/>
          </a:p>
        </p:txBody>
      </p:sp>
      <p:sp>
        <p:nvSpPr>
          <p:cNvPr id="4" name="Text 2"/>
          <p:cNvSpPr/>
          <p:nvPr/>
        </p:nvSpPr>
        <p:spPr>
          <a:xfrm>
            <a:off x="457200" y="1508760"/>
            <a:ext cx="8229600" cy="164592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Crude Oil Markets</a:t>
            </a:r>
            <a:endParaRPr lang="en-US" sz="4400" dirty="0"/>
          </a:p>
        </p:txBody>
      </p:sp>
      <p:sp>
        <p:nvSpPr>
          <p:cNvPr id="5" name="Text 3"/>
          <p:cNvSpPr/>
          <p:nvPr/>
        </p:nvSpPr>
        <p:spPr>
          <a:xfrm>
            <a:off x="457200" y="3246120"/>
            <a:ext cx="8229600" cy="548640"/>
          </a:xfrm>
          <a:prstGeom prst="rect">
            <a:avLst/>
          </a:prstGeom>
          <a:noFill/>
          <a:ln/>
        </p:spPr>
        <p:txBody>
          <a:bodyPr wrap="square" rtlCol="0" anchor="ctr"/>
          <a:lstStyle/>
          <a:p>
            <a:pPr marL="0" indent="0">
              <a:buNone/>
            </a:pPr>
            <a:r>
              <a:rPr lang="en-US" sz="1600" i="1" dirty="0">
                <a:solidFill>
                  <a:srgbClr val="8FA3B1"/>
                </a:solidFill>
                <a:latin typeface="Calibri" pitchFamily="34" charset="0"/>
                <a:ea typeface="Calibri" pitchFamily="34" charset="-122"/>
                <a:cs typeface="Calibri" pitchFamily="34" charset="-120"/>
              </a:rPr>
              <a:t>Introduction • Types • Structure • Pricing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What is Crude Oil?</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4206240" cy="3566160"/>
          </a:xfrm>
          <a:prstGeom prst="rect">
            <a:avLst/>
          </a:prstGeom>
          <a:solidFill>
            <a:srgbClr val="0D1F3C"/>
          </a:solidFill>
          <a:ln/>
          <a:effectLst>
            <a:outerShdw blurRad="101600" dist="38100" dir="8100000" algn="bl" rotWithShape="0">
              <a:srgbClr val="000000">
                <a:alpha val="18000"/>
              </a:srgbClr>
            </a:outerShdw>
          </a:effectLst>
        </p:spPr>
      </p:sp>
      <p:sp>
        <p:nvSpPr>
          <p:cNvPr id="5" name="Shape 3"/>
          <p:cNvSpPr/>
          <p:nvPr/>
        </p:nvSpPr>
        <p:spPr>
          <a:xfrm>
            <a:off x="365760" y="1005840"/>
            <a:ext cx="4206240" cy="64008"/>
          </a:xfrm>
          <a:prstGeom prst="rect">
            <a:avLst/>
          </a:prstGeom>
          <a:solidFill>
            <a:srgbClr val="C9943A"/>
          </a:solidFill>
          <a:ln/>
        </p:spPr>
      </p:sp>
      <p:sp>
        <p:nvSpPr>
          <p:cNvPr id="6" name="Text 4"/>
          <p:cNvSpPr/>
          <p:nvPr/>
        </p:nvSpPr>
        <p:spPr>
          <a:xfrm>
            <a:off x="548640" y="1097280"/>
            <a:ext cx="3840480" cy="384048"/>
          </a:xfrm>
          <a:prstGeom prst="rect">
            <a:avLst/>
          </a:prstGeom>
          <a:noFill/>
          <a:ln/>
        </p:spPr>
        <p:txBody>
          <a:bodyPr wrap="square" lIns="0" tIns="0" rIns="0" bIns="0" rtlCol="0" anchor="ctr"/>
          <a:lstStyle/>
          <a:p>
            <a:pPr marL="0" indent="0">
              <a:buNone/>
            </a:pPr>
            <a:r>
              <a:rPr lang="en-US" sz="1600" b="1" dirty="0">
                <a:solidFill>
                  <a:srgbClr val="E8B455"/>
                </a:solidFill>
                <a:latin typeface="Georgia" pitchFamily="34" charset="0"/>
                <a:ea typeface="Georgia" pitchFamily="34" charset="-122"/>
                <a:cs typeface="Georgia" pitchFamily="34" charset="-120"/>
              </a:rPr>
              <a:t>Definition</a:t>
            </a:r>
            <a:endParaRPr lang="en-US" sz="1600" dirty="0"/>
          </a:p>
        </p:txBody>
      </p:sp>
      <p:sp>
        <p:nvSpPr>
          <p:cNvPr id="7" name="Text 5"/>
          <p:cNvSpPr/>
          <p:nvPr/>
        </p:nvSpPr>
        <p:spPr>
          <a:xfrm>
            <a:off x="548640" y="1536192"/>
            <a:ext cx="3840480" cy="1417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Crude oil is a naturally occurring, unrefined petroleum product composed of hydrocarbon deposits found underground.</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It is the world's most actively traded commodity — central to global economic activity, influencing prices, exchange rates, and national GDPs.</a:t>
            </a:r>
            <a:endParaRPr lang="en-US" sz="1200" dirty="0"/>
          </a:p>
        </p:txBody>
      </p:sp>
      <p:sp>
        <p:nvSpPr>
          <p:cNvPr id="8" name="Shape 6"/>
          <p:cNvSpPr/>
          <p:nvPr/>
        </p:nvSpPr>
        <p:spPr>
          <a:xfrm>
            <a:off x="594360" y="3017520"/>
            <a:ext cx="3749040" cy="36576"/>
          </a:xfrm>
          <a:prstGeom prst="rect">
            <a:avLst/>
          </a:prstGeom>
          <a:solidFill>
            <a:srgbClr val="C9943A">
              <a:alpha val="40000"/>
            </a:srgbClr>
          </a:solidFill>
          <a:ln/>
        </p:spPr>
      </p:sp>
      <p:sp>
        <p:nvSpPr>
          <p:cNvPr id="9" name="Text 7"/>
          <p:cNvSpPr/>
          <p:nvPr/>
        </p:nvSpPr>
        <p:spPr>
          <a:xfrm>
            <a:off x="548640" y="3090672"/>
            <a:ext cx="1280160" cy="292608"/>
          </a:xfrm>
          <a:prstGeom prst="rect">
            <a:avLst/>
          </a:prstGeom>
          <a:noFill/>
          <a:ln/>
        </p:spPr>
        <p:txBody>
          <a:bodyPr wrap="square" lIns="0" tIns="0" rIns="0" bIns="0" rtlCol="0" anchor="ctr"/>
          <a:lstStyle/>
          <a:p>
            <a:pPr marL="0" indent="0">
              <a:buNone/>
            </a:pPr>
            <a:r>
              <a:rPr lang="en-US" sz="1050" b="1" dirty="0">
                <a:solidFill>
                  <a:srgbClr val="E8B455"/>
                </a:solidFill>
                <a:latin typeface="Calibri" pitchFamily="34" charset="0"/>
                <a:ea typeface="Calibri" pitchFamily="34" charset="-122"/>
                <a:cs typeface="Calibri" pitchFamily="34" charset="-120"/>
              </a:rPr>
              <a:t>Market Size:</a:t>
            </a:r>
            <a:endParaRPr lang="en-US" sz="1050" dirty="0"/>
          </a:p>
        </p:txBody>
      </p:sp>
      <p:sp>
        <p:nvSpPr>
          <p:cNvPr id="10" name="Text 8"/>
          <p:cNvSpPr/>
          <p:nvPr/>
        </p:nvSpPr>
        <p:spPr>
          <a:xfrm>
            <a:off x="1874520" y="3090672"/>
            <a:ext cx="256032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~$3 Trillion / year globally</a:t>
            </a:r>
            <a:endParaRPr lang="en-US" sz="1050" dirty="0"/>
          </a:p>
        </p:txBody>
      </p:sp>
      <p:sp>
        <p:nvSpPr>
          <p:cNvPr id="11" name="Text 9"/>
          <p:cNvSpPr/>
          <p:nvPr/>
        </p:nvSpPr>
        <p:spPr>
          <a:xfrm>
            <a:off x="548640" y="3438144"/>
            <a:ext cx="1280160" cy="292608"/>
          </a:xfrm>
          <a:prstGeom prst="rect">
            <a:avLst/>
          </a:prstGeom>
          <a:noFill/>
          <a:ln/>
        </p:spPr>
        <p:txBody>
          <a:bodyPr wrap="square" lIns="0" tIns="0" rIns="0" bIns="0" rtlCol="0" anchor="ctr"/>
          <a:lstStyle/>
          <a:p>
            <a:pPr marL="0" indent="0">
              <a:buNone/>
            </a:pPr>
            <a:r>
              <a:rPr lang="en-US" sz="1050" b="1" dirty="0">
                <a:solidFill>
                  <a:srgbClr val="E8B455"/>
                </a:solidFill>
                <a:latin typeface="Calibri" pitchFamily="34" charset="0"/>
                <a:ea typeface="Calibri" pitchFamily="34" charset="-122"/>
                <a:cs typeface="Calibri" pitchFamily="34" charset="-120"/>
              </a:rPr>
              <a:t>Unit of Trade:</a:t>
            </a:r>
            <a:endParaRPr lang="en-US" sz="1050" dirty="0"/>
          </a:p>
        </p:txBody>
      </p:sp>
      <p:sp>
        <p:nvSpPr>
          <p:cNvPr id="12" name="Text 10"/>
          <p:cNvSpPr/>
          <p:nvPr/>
        </p:nvSpPr>
        <p:spPr>
          <a:xfrm>
            <a:off x="1874520" y="3438144"/>
            <a:ext cx="256032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Barrel (1 bbl = 159 litres)</a:t>
            </a:r>
            <a:endParaRPr lang="en-US" sz="1050" dirty="0"/>
          </a:p>
        </p:txBody>
      </p:sp>
      <p:sp>
        <p:nvSpPr>
          <p:cNvPr id="13" name="Text 11"/>
          <p:cNvSpPr/>
          <p:nvPr/>
        </p:nvSpPr>
        <p:spPr>
          <a:xfrm>
            <a:off x="548640" y="3785616"/>
            <a:ext cx="1280160" cy="292608"/>
          </a:xfrm>
          <a:prstGeom prst="rect">
            <a:avLst/>
          </a:prstGeom>
          <a:noFill/>
          <a:ln/>
        </p:spPr>
        <p:txBody>
          <a:bodyPr wrap="square" lIns="0" tIns="0" rIns="0" bIns="0" rtlCol="0" anchor="ctr"/>
          <a:lstStyle/>
          <a:p>
            <a:pPr marL="0" indent="0">
              <a:buNone/>
            </a:pPr>
            <a:r>
              <a:rPr lang="en-US" sz="1050" b="1" dirty="0">
                <a:solidFill>
                  <a:srgbClr val="E8B455"/>
                </a:solidFill>
                <a:latin typeface="Calibri" pitchFamily="34" charset="0"/>
                <a:ea typeface="Calibri" pitchFamily="34" charset="-122"/>
                <a:cs typeface="Calibri" pitchFamily="34" charset="-120"/>
              </a:rPr>
              <a:t>Currency:</a:t>
            </a:r>
            <a:endParaRPr lang="en-US" sz="1050" dirty="0"/>
          </a:p>
        </p:txBody>
      </p:sp>
      <p:sp>
        <p:nvSpPr>
          <p:cNvPr id="14" name="Text 12"/>
          <p:cNvSpPr/>
          <p:nvPr/>
        </p:nvSpPr>
        <p:spPr>
          <a:xfrm>
            <a:off x="1874520" y="3785616"/>
            <a:ext cx="256032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Priced in USD (Petrodollar)</a:t>
            </a:r>
            <a:endParaRPr lang="en-US" sz="1050" dirty="0"/>
          </a:p>
        </p:txBody>
      </p:sp>
      <p:sp>
        <p:nvSpPr>
          <p:cNvPr id="15" name="Text 13"/>
          <p:cNvSpPr/>
          <p:nvPr/>
        </p:nvSpPr>
        <p:spPr>
          <a:xfrm>
            <a:off x="548640" y="4133088"/>
            <a:ext cx="1280160" cy="292608"/>
          </a:xfrm>
          <a:prstGeom prst="rect">
            <a:avLst/>
          </a:prstGeom>
          <a:noFill/>
          <a:ln/>
        </p:spPr>
        <p:txBody>
          <a:bodyPr wrap="square" lIns="0" tIns="0" rIns="0" bIns="0" rtlCol="0" anchor="ctr"/>
          <a:lstStyle/>
          <a:p>
            <a:pPr marL="0" indent="0">
              <a:buNone/>
            </a:pPr>
            <a:r>
              <a:rPr lang="en-US" sz="1050" b="1" dirty="0">
                <a:solidFill>
                  <a:srgbClr val="E8B455"/>
                </a:solidFill>
                <a:latin typeface="Calibri" pitchFamily="34" charset="0"/>
                <a:ea typeface="Calibri" pitchFamily="34" charset="-122"/>
                <a:cs typeface="Calibri" pitchFamily="34" charset="-120"/>
              </a:rPr>
              <a:t>Top Producers:</a:t>
            </a:r>
            <a:endParaRPr lang="en-US" sz="1050" dirty="0"/>
          </a:p>
        </p:txBody>
      </p:sp>
      <p:sp>
        <p:nvSpPr>
          <p:cNvPr id="16" name="Text 14"/>
          <p:cNvSpPr/>
          <p:nvPr/>
        </p:nvSpPr>
        <p:spPr>
          <a:xfrm>
            <a:off x="1874520" y="4133088"/>
            <a:ext cx="256032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USA, Saudi Arabia, Russia</a:t>
            </a:r>
            <a:endParaRPr lang="en-US" sz="1050" dirty="0"/>
          </a:p>
        </p:txBody>
      </p:sp>
      <p:sp>
        <p:nvSpPr>
          <p:cNvPr id="17" name="Shape 15"/>
          <p:cNvSpPr/>
          <p:nvPr/>
        </p:nvSpPr>
        <p:spPr>
          <a:xfrm>
            <a:off x="4892040" y="1005840"/>
            <a:ext cx="1920240" cy="1554480"/>
          </a:xfrm>
          <a:prstGeom prst="rect">
            <a:avLst/>
          </a:prstGeom>
          <a:solidFill>
            <a:srgbClr val="132952"/>
          </a:solidFill>
          <a:ln/>
          <a:effectLst>
            <a:outerShdw blurRad="101600" dist="38100" dir="8100000" algn="bl" rotWithShape="0">
              <a:srgbClr val="000000">
                <a:alpha val="18000"/>
              </a:srgbClr>
            </a:outerShdw>
          </a:effectLst>
        </p:spPr>
      </p:sp>
      <p:sp>
        <p:nvSpPr>
          <p:cNvPr id="18" name="Text 16"/>
          <p:cNvSpPr/>
          <p:nvPr/>
        </p:nvSpPr>
        <p:spPr>
          <a:xfrm>
            <a:off x="4983480" y="1097280"/>
            <a:ext cx="1737360" cy="854964"/>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$3T</a:t>
            </a:r>
            <a:endParaRPr lang="en-US" sz="2800" dirty="0"/>
          </a:p>
        </p:txBody>
      </p:sp>
      <p:sp>
        <p:nvSpPr>
          <p:cNvPr id="19" name="Text 17"/>
          <p:cNvSpPr/>
          <p:nvPr/>
        </p:nvSpPr>
        <p:spPr>
          <a:xfrm>
            <a:off x="4983480" y="1860804"/>
            <a:ext cx="1737360" cy="65288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Annual Global</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Market Value</a:t>
            </a:r>
            <a:endParaRPr lang="en-US" sz="1000" dirty="0"/>
          </a:p>
        </p:txBody>
      </p:sp>
      <p:sp>
        <p:nvSpPr>
          <p:cNvPr id="20" name="Shape 18"/>
          <p:cNvSpPr/>
          <p:nvPr/>
        </p:nvSpPr>
        <p:spPr>
          <a:xfrm>
            <a:off x="6995160" y="1005840"/>
            <a:ext cx="1920240" cy="1554480"/>
          </a:xfrm>
          <a:prstGeom prst="rect">
            <a:avLst/>
          </a:prstGeom>
          <a:solidFill>
            <a:srgbClr val="1B7FA6"/>
          </a:solidFill>
          <a:ln/>
          <a:effectLst>
            <a:outerShdw blurRad="101600" dist="38100" dir="8100000" algn="bl" rotWithShape="0">
              <a:srgbClr val="000000">
                <a:alpha val="18000"/>
              </a:srgbClr>
            </a:outerShdw>
          </a:effectLst>
        </p:spPr>
      </p:sp>
      <p:sp>
        <p:nvSpPr>
          <p:cNvPr id="21" name="Text 19"/>
          <p:cNvSpPr/>
          <p:nvPr/>
        </p:nvSpPr>
        <p:spPr>
          <a:xfrm>
            <a:off x="7086600" y="1097280"/>
            <a:ext cx="1737360" cy="854964"/>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~100M</a:t>
            </a:r>
            <a:endParaRPr lang="en-US" sz="2800" dirty="0"/>
          </a:p>
        </p:txBody>
      </p:sp>
      <p:sp>
        <p:nvSpPr>
          <p:cNvPr id="22" name="Text 20"/>
          <p:cNvSpPr/>
          <p:nvPr/>
        </p:nvSpPr>
        <p:spPr>
          <a:xfrm>
            <a:off x="7086600" y="1860804"/>
            <a:ext cx="1737360" cy="65288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Barrels Produced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Per Day</a:t>
            </a:r>
            <a:endParaRPr lang="en-US" sz="1000" dirty="0"/>
          </a:p>
        </p:txBody>
      </p:sp>
      <p:sp>
        <p:nvSpPr>
          <p:cNvPr id="23" name="Shape 21"/>
          <p:cNvSpPr/>
          <p:nvPr/>
        </p:nvSpPr>
        <p:spPr>
          <a:xfrm>
            <a:off x="4892040" y="2834640"/>
            <a:ext cx="1920240" cy="1554480"/>
          </a:xfrm>
          <a:prstGeom prst="rect">
            <a:avLst/>
          </a:prstGeom>
          <a:solidFill>
            <a:srgbClr val="132952"/>
          </a:solidFill>
          <a:ln/>
          <a:effectLst>
            <a:outerShdw blurRad="101600" dist="38100" dir="8100000" algn="bl" rotWithShape="0">
              <a:srgbClr val="000000">
                <a:alpha val="18000"/>
              </a:srgbClr>
            </a:outerShdw>
          </a:effectLst>
        </p:spPr>
      </p:sp>
      <p:sp>
        <p:nvSpPr>
          <p:cNvPr id="24" name="Text 22"/>
          <p:cNvSpPr/>
          <p:nvPr/>
        </p:nvSpPr>
        <p:spPr>
          <a:xfrm>
            <a:off x="4983480" y="2926080"/>
            <a:ext cx="1737360" cy="854964"/>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#1</a:t>
            </a:r>
            <a:endParaRPr lang="en-US" sz="2800" dirty="0"/>
          </a:p>
        </p:txBody>
      </p:sp>
      <p:sp>
        <p:nvSpPr>
          <p:cNvPr id="25" name="Text 23"/>
          <p:cNvSpPr/>
          <p:nvPr/>
        </p:nvSpPr>
        <p:spPr>
          <a:xfrm>
            <a:off x="4983480" y="3689604"/>
            <a:ext cx="1737360" cy="65288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Most Traded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Commodity</a:t>
            </a:r>
            <a:endParaRPr lang="en-US" sz="1000" dirty="0"/>
          </a:p>
        </p:txBody>
      </p:sp>
      <p:sp>
        <p:nvSpPr>
          <p:cNvPr id="26" name="Shape 24"/>
          <p:cNvSpPr/>
          <p:nvPr/>
        </p:nvSpPr>
        <p:spPr>
          <a:xfrm>
            <a:off x="6995160" y="2834640"/>
            <a:ext cx="1920240" cy="1554480"/>
          </a:xfrm>
          <a:prstGeom prst="rect">
            <a:avLst/>
          </a:prstGeom>
          <a:solidFill>
            <a:srgbClr val="1B7FA6"/>
          </a:solidFill>
          <a:ln/>
          <a:effectLst>
            <a:outerShdw blurRad="101600" dist="38100" dir="8100000" algn="bl" rotWithShape="0">
              <a:srgbClr val="000000">
                <a:alpha val="18000"/>
              </a:srgbClr>
            </a:outerShdw>
          </a:effectLst>
        </p:spPr>
      </p:sp>
      <p:sp>
        <p:nvSpPr>
          <p:cNvPr id="27" name="Text 25"/>
          <p:cNvSpPr/>
          <p:nvPr/>
        </p:nvSpPr>
        <p:spPr>
          <a:xfrm>
            <a:off x="7086600" y="2926080"/>
            <a:ext cx="1737360" cy="854964"/>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USD</a:t>
            </a:r>
            <a:endParaRPr lang="en-US" sz="2800" dirty="0"/>
          </a:p>
        </p:txBody>
      </p:sp>
      <p:sp>
        <p:nvSpPr>
          <p:cNvPr id="28" name="Text 26"/>
          <p:cNvSpPr/>
          <p:nvPr/>
        </p:nvSpPr>
        <p:spPr>
          <a:xfrm>
            <a:off x="7086600" y="3689604"/>
            <a:ext cx="1737360" cy="65288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Sole Pricing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Currency</a:t>
            </a:r>
            <a:endParaRPr lang="en-US" sz="1000" dirty="0"/>
          </a:p>
        </p:txBody>
      </p:sp>
      <p:sp>
        <p:nvSpPr>
          <p:cNvPr id="29" name="Text 27"/>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Major Crude Oil Benchmarks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8412480" cy="868680"/>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365760" y="1005840"/>
            <a:ext cx="109728" cy="868680"/>
          </a:xfrm>
          <a:prstGeom prst="rect">
            <a:avLst/>
          </a:prstGeom>
          <a:solidFill>
            <a:srgbClr val="0D1F3C"/>
          </a:solidFill>
          <a:ln/>
        </p:spPr>
      </p:sp>
      <p:sp>
        <p:nvSpPr>
          <p:cNvPr id="6" name="Shape 4"/>
          <p:cNvSpPr/>
          <p:nvPr/>
        </p:nvSpPr>
        <p:spPr>
          <a:xfrm>
            <a:off x="594360" y="1207008"/>
            <a:ext cx="457200" cy="457200"/>
          </a:xfrm>
          <a:prstGeom prst="ellipse">
            <a:avLst/>
          </a:prstGeom>
          <a:solidFill>
            <a:srgbClr val="0D1F3C">
              <a:alpha val="80000"/>
            </a:srgbClr>
          </a:solidFill>
          <a:ln/>
        </p:spPr>
      </p:sp>
      <p:sp>
        <p:nvSpPr>
          <p:cNvPr id="7" name="Text 5"/>
          <p:cNvSpPr/>
          <p:nvPr/>
        </p:nvSpPr>
        <p:spPr>
          <a:xfrm>
            <a:off x="594360" y="120700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188720" y="1078992"/>
            <a:ext cx="2926080" cy="347472"/>
          </a:xfrm>
          <a:prstGeom prst="rect">
            <a:avLst/>
          </a:prstGeom>
          <a:noFill/>
          <a:ln/>
        </p:spPr>
        <p:txBody>
          <a:bodyPr wrap="square" lIns="0" tIns="0" rIns="0" bIns="0"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Brent Crude</a:t>
            </a:r>
            <a:endParaRPr lang="en-US" sz="1400" dirty="0"/>
          </a:p>
        </p:txBody>
      </p:sp>
      <p:sp>
        <p:nvSpPr>
          <p:cNvPr id="9" name="Text 7"/>
          <p:cNvSpPr/>
          <p:nvPr/>
        </p:nvSpPr>
        <p:spPr>
          <a:xfrm>
            <a:off x="1188720" y="1463040"/>
            <a:ext cx="3566160" cy="347472"/>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European &amp; African pricing benchmark — ~67% of global oil priced off Brent</a:t>
            </a:r>
            <a:endParaRPr lang="en-US" sz="1050" dirty="0"/>
          </a:p>
        </p:txBody>
      </p:sp>
      <p:sp>
        <p:nvSpPr>
          <p:cNvPr id="10" name="Shape 8"/>
          <p:cNvSpPr/>
          <p:nvPr/>
        </p:nvSpPr>
        <p:spPr>
          <a:xfrm>
            <a:off x="5029200" y="1143000"/>
            <a:ext cx="1280160" cy="256032"/>
          </a:xfrm>
          <a:prstGeom prst="rect">
            <a:avLst/>
          </a:prstGeom>
          <a:solidFill>
            <a:srgbClr val="0D1F3C">
              <a:alpha val="15000"/>
            </a:srgbClr>
          </a:solidFill>
          <a:ln/>
        </p:spPr>
      </p:sp>
      <p:sp>
        <p:nvSpPr>
          <p:cNvPr id="11" name="Text 9"/>
          <p:cNvSpPr/>
          <p:nvPr/>
        </p:nvSpPr>
        <p:spPr>
          <a:xfrm>
            <a:off x="5029200" y="1143000"/>
            <a:ext cx="1280160" cy="256032"/>
          </a:xfrm>
          <a:prstGeom prst="rect">
            <a:avLst/>
          </a:prstGeom>
          <a:noFill/>
          <a:ln/>
        </p:spPr>
        <p:txBody>
          <a:bodyPr wrap="square" rtlCol="0" anchor="ctr"/>
          <a:lstStyle/>
          <a:p>
            <a:pPr marL="0" indent="0" algn="ctr">
              <a:buNone/>
            </a:pPr>
            <a:r>
              <a:rPr lang="en-US" sz="900" b="1" dirty="0">
                <a:solidFill>
                  <a:srgbClr val="0D1F3C"/>
                </a:solidFill>
                <a:latin typeface="Calibri" pitchFamily="34" charset="0"/>
                <a:ea typeface="Calibri" pitchFamily="34" charset="-122"/>
                <a:cs typeface="Calibri" pitchFamily="34" charset="-120"/>
              </a:rPr>
              <a:t>~38° API</a:t>
            </a:r>
            <a:endParaRPr lang="en-US" sz="900" dirty="0"/>
          </a:p>
        </p:txBody>
      </p:sp>
      <p:sp>
        <p:nvSpPr>
          <p:cNvPr id="12" name="Shape 10"/>
          <p:cNvSpPr/>
          <p:nvPr/>
        </p:nvSpPr>
        <p:spPr>
          <a:xfrm>
            <a:off x="6492240" y="1143000"/>
            <a:ext cx="1371600" cy="256032"/>
          </a:xfrm>
          <a:prstGeom prst="rect">
            <a:avLst/>
          </a:prstGeom>
          <a:solidFill>
            <a:srgbClr val="0D1F3C">
              <a:alpha val="15000"/>
            </a:srgbClr>
          </a:solidFill>
          <a:ln/>
        </p:spPr>
      </p:sp>
      <p:sp>
        <p:nvSpPr>
          <p:cNvPr id="13" name="Text 11"/>
          <p:cNvSpPr/>
          <p:nvPr/>
        </p:nvSpPr>
        <p:spPr>
          <a:xfrm>
            <a:off x="6492240" y="1143000"/>
            <a:ext cx="1371600" cy="256032"/>
          </a:xfrm>
          <a:prstGeom prst="rect">
            <a:avLst/>
          </a:prstGeom>
          <a:noFill/>
          <a:ln/>
        </p:spPr>
        <p:txBody>
          <a:bodyPr wrap="square" rtlCol="0" anchor="ctr"/>
          <a:lstStyle/>
          <a:p>
            <a:pPr marL="0" indent="0" algn="ctr">
              <a:buNone/>
            </a:pPr>
            <a:r>
              <a:rPr lang="en-US" sz="900" b="1" dirty="0">
                <a:solidFill>
                  <a:srgbClr val="0D1F3C"/>
                </a:solidFill>
                <a:latin typeface="Calibri" pitchFamily="34" charset="0"/>
                <a:ea typeface="Calibri" pitchFamily="34" charset="-122"/>
                <a:cs typeface="Calibri" pitchFamily="34" charset="-120"/>
              </a:rPr>
              <a:t>Low (Sweet)</a:t>
            </a:r>
            <a:endParaRPr lang="en-US" sz="900" dirty="0"/>
          </a:p>
        </p:txBody>
      </p:sp>
      <p:sp>
        <p:nvSpPr>
          <p:cNvPr id="14" name="Text 12"/>
          <p:cNvSpPr/>
          <p:nvPr/>
        </p:nvSpPr>
        <p:spPr>
          <a:xfrm>
            <a:off x="5029200" y="1508760"/>
            <a:ext cx="3291840" cy="274320"/>
          </a:xfrm>
          <a:prstGeom prst="rect">
            <a:avLst/>
          </a:prstGeom>
          <a:noFill/>
          <a:ln/>
        </p:spPr>
        <p:txBody>
          <a:bodyPr wrap="square" lIns="0" tIns="0" rIns="0" bIns="0" rtlCol="0" anchor="ctr"/>
          <a:lstStyle/>
          <a:p>
            <a:pPr marL="0" indent="0">
              <a:buNone/>
            </a:pPr>
            <a:r>
              <a:rPr lang="en-US" sz="1000" dirty="0">
                <a:solidFill>
                  <a:srgbClr val="8FA3B1"/>
                </a:solidFill>
                <a:latin typeface="Calibri" pitchFamily="34" charset="0"/>
                <a:ea typeface="Calibri" pitchFamily="34" charset="-122"/>
                <a:cs typeface="Calibri" pitchFamily="34" charset="-120"/>
              </a:rPr>
              <a:t>📍 North Sea, UK/Norway</a:t>
            </a:r>
            <a:endParaRPr lang="en-US" sz="1000" dirty="0"/>
          </a:p>
        </p:txBody>
      </p:sp>
      <p:sp>
        <p:nvSpPr>
          <p:cNvPr id="15" name="Shape 13"/>
          <p:cNvSpPr/>
          <p:nvPr/>
        </p:nvSpPr>
        <p:spPr>
          <a:xfrm>
            <a:off x="365760" y="2011680"/>
            <a:ext cx="8412480" cy="868680"/>
          </a:xfrm>
          <a:prstGeom prst="rect">
            <a:avLst/>
          </a:prstGeom>
          <a:solidFill>
            <a:srgbClr val="FFFFFF"/>
          </a:solidFill>
          <a:ln/>
          <a:effectLst>
            <a:outerShdw blurRad="101600" dist="38100" dir="8100000" algn="bl" rotWithShape="0">
              <a:srgbClr val="000000">
                <a:alpha val="18000"/>
              </a:srgbClr>
            </a:outerShdw>
          </a:effectLst>
        </p:spPr>
      </p:sp>
      <p:sp>
        <p:nvSpPr>
          <p:cNvPr id="16" name="Shape 14"/>
          <p:cNvSpPr/>
          <p:nvPr/>
        </p:nvSpPr>
        <p:spPr>
          <a:xfrm>
            <a:off x="365760" y="2011680"/>
            <a:ext cx="109728" cy="868680"/>
          </a:xfrm>
          <a:prstGeom prst="rect">
            <a:avLst/>
          </a:prstGeom>
          <a:solidFill>
            <a:srgbClr val="1B7FA6"/>
          </a:solidFill>
          <a:ln/>
        </p:spPr>
      </p:sp>
      <p:sp>
        <p:nvSpPr>
          <p:cNvPr id="17" name="Shape 15"/>
          <p:cNvSpPr/>
          <p:nvPr/>
        </p:nvSpPr>
        <p:spPr>
          <a:xfrm>
            <a:off x="594360" y="2212848"/>
            <a:ext cx="457200" cy="457200"/>
          </a:xfrm>
          <a:prstGeom prst="ellipse">
            <a:avLst/>
          </a:prstGeom>
          <a:solidFill>
            <a:srgbClr val="1B7FA6">
              <a:alpha val="80000"/>
            </a:srgbClr>
          </a:solidFill>
          <a:ln/>
        </p:spPr>
      </p:sp>
      <p:sp>
        <p:nvSpPr>
          <p:cNvPr id="18" name="Text 16"/>
          <p:cNvSpPr/>
          <p:nvPr/>
        </p:nvSpPr>
        <p:spPr>
          <a:xfrm>
            <a:off x="594360" y="221284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9" name="Text 17"/>
          <p:cNvSpPr/>
          <p:nvPr/>
        </p:nvSpPr>
        <p:spPr>
          <a:xfrm>
            <a:off x="1188720" y="2084832"/>
            <a:ext cx="2926080" cy="347472"/>
          </a:xfrm>
          <a:prstGeom prst="rect">
            <a:avLst/>
          </a:prstGeom>
          <a:noFill/>
          <a:ln/>
        </p:spPr>
        <p:txBody>
          <a:bodyPr wrap="square" lIns="0" tIns="0" rIns="0" bIns="0"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WTI (West Texas Intermediate)</a:t>
            </a:r>
            <a:endParaRPr lang="en-US" sz="1400" dirty="0"/>
          </a:p>
        </p:txBody>
      </p:sp>
      <p:sp>
        <p:nvSpPr>
          <p:cNvPr id="20" name="Text 18"/>
          <p:cNvSpPr/>
          <p:nvPr/>
        </p:nvSpPr>
        <p:spPr>
          <a:xfrm>
            <a:off x="1188720" y="2468880"/>
            <a:ext cx="3566160" cy="347472"/>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US benchmark traded on NYMEX — often ~$2–4 cheaper than Brent crude</a:t>
            </a:r>
            <a:endParaRPr lang="en-US" sz="1050" dirty="0"/>
          </a:p>
        </p:txBody>
      </p:sp>
      <p:sp>
        <p:nvSpPr>
          <p:cNvPr id="21" name="Shape 19"/>
          <p:cNvSpPr/>
          <p:nvPr/>
        </p:nvSpPr>
        <p:spPr>
          <a:xfrm>
            <a:off x="5029200" y="2148840"/>
            <a:ext cx="1280160" cy="256032"/>
          </a:xfrm>
          <a:prstGeom prst="rect">
            <a:avLst/>
          </a:prstGeom>
          <a:solidFill>
            <a:srgbClr val="1B7FA6">
              <a:alpha val="15000"/>
            </a:srgbClr>
          </a:solidFill>
          <a:ln/>
        </p:spPr>
      </p:sp>
      <p:sp>
        <p:nvSpPr>
          <p:cNvPr id="22" name="Text 20"/>
          <p:cNvSpPr/>
          <p:nvPr/>
        </p:nvSpPr>
        <p:spPr>
          <a:xfrm>
            <a:off x="5029200" y="2148840"/>
            <a:ext cx="1280160" cy="256032"/>
          </a:xfrm>
          <a:prstGeom prst="rect">
            <a:avLst/>
          </a:prstGeom>
          <a:noFill/>
          <a:ln/>
        </p:spPr>
        <p:txBody>
          <a:bodyPr wrap="square" rtlCol="0" anchor="ctr"/>
          <a:lstStyle/>
          <a:p>
            <a:pPr marL="0" indent="0" algn="ctr">
              <a:buNone/>
            </a:pPr>
            <a:r>
              <a:rPr lang="en-US" sz="900" b="1" dirty="0">
                <a:solidFill>
                  <a:srgbClr val="1B7FA6"/>
                </a:solidFill>
                <a:latin typeface="Calibri" pitchFamily="34" charset="0"/>
                <a:ea typeface="Calibri" pitchFamily="34" charset="-122"/>
                <a:cs typeface="Calibri" pitchFamily="34" charset="-120"/>
              </a:rPr>
              <a:t>~39.6° API</a:t>
            </a:r>
            <a:endParaRPr lang="en-US" sz="900" dirty="0"/>
          </a:p>
        </p:txBody>
      </p:sp>
      <p:sp>
        <p:nvSpPr>
          <p:cNvPr id="23" name="Shape 21"/>
          <p:cNvSpPr/>
          <p:nvPr/>
        </p:nvSpPr>
        <p:spPr>
          <a:xfrm>
            <a:off x="6492240" y="2148840"/>
            <a:ext cx="1371600" cy="256032"/>
          </a:xfrm>
          <a:prstGeom prst="rect">
            <a:avLst/>
          </a:prstGeom>
          <a:solidFill>
            <a:srgbClr val="1B7FA6">
              <a:alpha val="15000"/>
            </a:srgbClr>
          </a:solidFill>
          <a:ln/>
        </p:spPr>
      </p:sp>
      <p:sp>
        <p:nvSpPr>
          <p:cNvPr id="24" name="Text 22"/>
          <p:cNvSpPr/>
          <p:nvPr/>
        </p:nvSpPr>
        <p:spPr>
          <a:xfrm>
            <a:off x="6492240" y="2148840"/>
            <a:ext cx="1371600" cy="256032"/>
          </a:xfrm>
          <a:prstGeom prst="rect">
            <a:avLst/>
          </a:prstGeom>
          <a:noFill/>
          <a:ln/>
        </p:spPr>
        <p:txBody>
          <a:bodyPr wrap="square" rtlCol="0" anchor="ctr"/>
          <a:lstStyle/>
          <a:p>
            <a:pPr marL="0" indent="0" algn="ctr">
              <a:buNone/>
            </a:pPr>
            <a:r>
              <a:rPr lang="en-US" sz="900" b="1" dirty="0">
                <a:solidFill>
                  <a:srgbClr val="1B7FA6"/>
                </a:solidFill>
                <a:latin typeface="Calibri" pitchFamily="34" charset="0"/>
                <a:ea typeface="Calibri" pitchFamily="34" charset="-122"/>
                <a:cs typeface="Calibri" pitchFamily="34" charset="-120"/>
              </a:rPr>
              <a:t>Very Low (Sweet)</a:t>
            </a:r>
            <a:endParaRPr lang="en-US" sz="900" dirty="0"/>
          </a:p>
        </p:txBody>
      </p:sp>
      <p:sp>
        <p:nvSpPr>
          <p:cNvPr id="25" name="Text 23"/>
          <p:cNvSpPr/>
          <p:nvPr/>
        </p:nvSpPr>
        <p:spPr>
          <a:xfrm>
            <a:off x="5029200" y="2514600"/>
            <a:ext cx="3291840" cy="274320"/>
          </a:xfrm>
          <a:prstGeom prst="rect">
            <a:avLst/>
          </a:prstGeom>
          <a:noFill/>
          <a:ln/>
        </p:spPr>
        <p:txBody>
          <a:bodyPr wrap="square" lIns="0" tIns="0" rIns="0" bIns="0" rtlCol="0" anchor="ctr"/>
          <a:lstStyle/>
          <a:p>
            <a:pPr marL="0" indent="0">
              <a:buNone/>
            </a:pPr>
            <a:r>
              <a:rPr lang="en-US" sz="1000" dirty="0">
                <a:solidFill>
                  <a:srgbClr val="8FA3B1"/>
                </a:solidFill>
                <a:latin typeface="Calibri" pitchFamily="34" charset="0"/>
                <a:ea typeface="Calibri" pitchFamily="34" charset="-122"/>
                <a:cs typeface="Calibri" pitchFamily="34" charset="-120"/>
              </a:rPr>
              <a:t>📍 Midland, Texas, USA</a:t>
            </a:r>
            <a:endParaRPr lang="en-US" sz="1000" dirty="0"/>
          </a:p>
        </p:txBody>
      </p:sp>
      <p:sp>
        <p:nvSpPr>
          <p:cNvPr id="26" name="Shape 24"/>
          <p:cNvSpPr/>
          <p:nvPr/>
        </p:nvSpPr>
        <p:spPr>
          <a:xfrm>
            <a:off x="365760" y="3017520"/>
            <a:ext cx="8412480" cy="868680"/>
          </a:xfrm>
          <a:prstGeom prst="rect">
            <a:avLst/>
          </a:prstGeom>
          <a:solidFill>
            <a:srgbClr val="FFFFFF"/>
          </a:solidFill>
          <a:ln/>
          <a:effectLst>
            <a:outerShdw blurRad="101600" dist="38100" dir="8100000" algn="bl" rotWithShape="0">
              <a:srgbClr val="000000">
                <a:alpha val="18000"/>
              </a:srgbClr>
            </a:outerShdw>
          </a:effectLst>
        </p:spPr>
      </p:sp>
      <p:sp>
        <p:nvSpPr>
          <p:cNvPr id="27" name="Shape 25"/>
          <p:cNvSpPr/>
          <p:nvPr/>
        </p:nvSpPr>
        <p:spPr>
          <a:xfrm>
            <a:off x="365760" y="3017520"/>
            <a:ext cx="109728" cy="868680"/>
          </a:xfrm>
          <a:prstGeom prst="rect">
            <a:avLst/>
          </a:prstGeom>
          <a:solidFill>
            <a:srgbClr val="C9943A"/>
          </a:solidFill>
          <a:ln/>
        </p:spPr>
      </p:sp>
      <p:sp>
        <p:nvSpPr>
          <p:cNvPr id="28" name="Shape 26"/>
          <p:cNvSpPr/>
          <p:nvPr/>
        </p:nvSpPr>
        <p:spPr>
          <a:xfrm>
            <a:off x="594360" y="3218688"/>
            <a:ext cx="457200" cy="457200"/>
          </a:xfrm>
          <a:prstGeom prst="ellipse">
            <a:avLst/>
          </a:prstGeom>
          <a:solidFill>
            <a:srgbClr val="C9943A">
              <a:alpha val="80000"/>
            </a:srgbClr>
          </a:solidFill>
          <a:ln/>
        </p:spPr>
      </p:sp>
      <p:sp>
        <p:nvSpPr>
          <p:cNvPr id="29" name="Text 27"/>
          <p:cNvSpPr/>
          <p:nvPr/>
        </p:nvSpPr>
        <p:spPr>
          <a:xfrm>
            <a:off x="594360" y="321868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30" name="Text 28"/>
          <p:cNvSpPr/>
          <p:nvPr/>
        </p:nvSpPr>
        <p:spPr>
          <a:xfrm>
            <a:off x="1188720" y="3090672"/>
            <a:ext cx="2926080" cy="347472"/>
          </a:xfrm>
          <a:prstGeom prst="rect">
            <a:avLst/>
          </a:prstGeom>
          <a:noFill/>
          <a:ln/>
        </p:spPr>
        <p:txBody>
          <a:bodyPr wrap="square" lIns="0" tIns="0" rIns="0" bIns="0"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Dubai / Oman Crude</a:t>
            </a:r>
            <a:endParaRPr lang="en-US" sz="1400" dirty="0"/>
          </a:p>
        </p:txBody>
      </p:sp>
      <p:sp>
        <p:nvSpPr>
          <p:cNvPr id="31" name="Text 29"/>
          <p:cNvSpPr/>
          <p:nvPr/>
        </p:nvSpPr>
        <p:spPr>
          <a:xfrm>
            <a:off x="1188720" y="3474720"/>
            <a:ext cx="3566160" cy="347472"/>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Asian pricing benchmark — India's imports majorly priced off Dubai/Oman</a:t>
            </a:r>
            <a:endParaRPr lang="en-US" sz="1050" dirty="0"/>
          </a:p>
        </p:txBody>
      </p:sp>
      <p:sp>
        <p:nvSpPr>
          <p:cNvPr id="32" name="Shape 30"/>
          <p:cNvSpPr/>
          <p:nvPr/>
        </p:nvSpPr>
        <p:spPr>
          <a:xfrm>
            <a:off x="5029200" y="3154680"/>
            <a:ext cx="1280160" cy="256032"/>
          </a:xfrm>
          <a:prstGeom prst="rect">
            <a:avLst/>
          </a:prstGeom>
          <a:solidFill>
            <a:srgbClr val="C9943A">
              <a:alpha val="15000"/>
            </a:srgbClr>
          </a:solidFill>
          <a:ln/>
        </p:spPr>
      </p:sp>
      <p:sp>
        <p:nvSpPr>
          <p:cNvPr id="33" name="Text 31"/>
          <p:cNvSpPr/>
          <p:nvPr/>
        </p:nvSpPr>
        <p:spPr>
          <a:xfrm>
            <a:off x="5029200" y="3154680"/>
            <a:ext cx="1280160" cy="256032"/>
          </a:xfrm>
          <a:prstGeom prst="rect">
            <a:avLst/>
          </a:prstGeom>
          <a:noFill/>
          <a:ln/>
        </p:spPr>
        <p:txBody>
          <a:bodyPr wrap="square" rtlCol="0" anchor="ctr"/>
          <a:lstStyle/>
          <a:p>
            <a:pPr marL="0" indent="0" algn="ctr">
              <a:buNone/>
            </a:pPr>
            <a:r>
              <a:rPr lang="en-US" sz="900" b="1" dirty="0">
                <a:solidFill>
                  <a:srgbClr val="C9943A"/>
                </a:solidFill>
                <a:latin typeface="Calibri" pitchFamily="34" charset="0"/>
                <a:ea typeface="Calibri" pitchFamily="34" charset="-122"/>
                <a:cs typeface="Calibri" pitchFamily="34" charset="-120"/>
              </a:rPr>
              <a:t>~31° API</a:t>
            </a:r>
            <a:endParaRPr lang="en-US" sz="900" dirty="0"/>
          </a:p>
        </p:txBody>
      </p:sp>
      <p:sp>
        <p:nvSpPr>
          <p:cNvPr id="34" name="Shape 32"/>
          <p:cNvSpPr/>
          <p:nvPr/>
        </p:nvSpPr>
        <p:spPr>
          <a:xfrm>
            <a:off x="6492240" y="3154680"/>
            <a:ext cx="1371600" cy="256032"/>
          </a:xfrm>
          <a:prstGeom prst="rect">
            <a:avLst/>
          </a:prstGeom>
          <a:solidFill>
            <a:srgbClr val="C9943A">
              <a:alpha val="15000"/>
            </a:srgbClr>
          </a:solidFill>
          <a:ln/>
        </p:spPr>
      </p:sp>
      <p:sp>
        <p:nvSpPr>
          <p:cNvPr id="35" name="Text 33"/>
          <p:cNvSpPr/>
          <p:nvPr/>
        </p:nvSpPr>
        <p:spPr>
          <a:xfrm>
            <a:off x="6492240" y="3154680"/>
            <a:ext cx="1371600" cy="256032"/>
          </a:xfrm>
          <a:prstGeom prst="rect">
            <a:avLst/>
          </a:prstGeom>
          <a:noFill/>
          <a:ln/>
        </p:spPr>
        <p:txBody>
          <a:bodyPr wrap="square" rtlCol="0" anchor="ctr"/>
          <a:lstStyle/>
          <a:p>
            <a:pPr marL="0" indent="0" algn="ctr">
              <a:buNone/>
            </a:pPr>
            <a:r>
              <a:rPr lang="en-US" sz="900" b="1" dirty="0">
                <a:solidFill>
                  <a:srgbClr val="C9943A"/>
                </a:solidFill>
                <a:latin typeface="Calibri" pitchFamily="34" charset="0"/>
                <a:ea typeface="Calibri" pitchFamily="34" charset="-122"/>
                <a:cs typeface="Calibri" pitchFamily="34" charset="-120"/>
              </a:rPr>
              <a:t>Higher (Sour)</a:t>
            </a:r>
            <a:endParaRPr lang="en-US" sz="900" dirty="0"/>
          </a:p>
        </p:txBody>
      </p:sp>
      <p:sp>
        <p:nvSpPr>
          <p:cNvPr id="36" name="Text 34"/>
          <p:cNvSpPr/>
          <p:nvPr/>
        </p:nvSpPr>
        <p:spPr>
          <a:xfrm>
            <a:off x="5029200" y="3520440"/>
            <a:ext cx="3291840" cy="274320"/>
          </a:xfrm>
          <a:prstGeom prst="rect">
            <a:avLst/>
          </a:prstGeom>
          <a:noFill/>
          <a:ln/>
        </p:spPr>
        <p:txBody>
          <a:bodyPr wrap="square" lIns="0" tIns="0" rIns="0" bIns="0" rtlCol="0" anchor="ctr"/>
          <a:lstStyle/>
          <a:p>
            <a:pPr marL="0" indent="0">
              <a:buNone/>
            </a:pPr>
            <a:r>
              <a:rPr lang="en-US" sz="1000" dirty="0">
                <a:solidFill>
                  <a:srgbClr val="8FA3B1"/>
                </a:solidFill>
                <a:latin typeface="Calibri" pitchFamily="34" charset="0"/>
                <a:ea typeface="Calibri" pitchFamily="34" charset="-122"/>
                <a:cs typeface="Calibri" pitchFamily="34" charset="-120"/>
              </a:rPr>
              <a:t>📍 Middle East</a:t>
            </a:r>
            <a:endParaRPr lang="en-US" sz="1000" dirty="0"/>
          </a:p>
        </p:txBody>
      </p:sp>
      <p:sp>
        <p:nvSpPr>
          <p:cNvPr id="37" name="Shape 35"/>
          <p:cNvSpPr/>
          <p:nvPr/>
        </p:nvSpPr>
        <p:spPr>
          <a:xfrm>
            <a:off x="365760" y="4023360"/>
            <a:ext cx="8412480" cy="868680"/>
          </a:xfrm>
          <a:prstGeom prst="rect">
            <a:avLst/>
          </a:prstGeom>
          <a:solidFill>
            <a:srgbClr val="FFFFFF"/>
          </a:solidFill>
          <a:ln/>
          <a:effectLst>
            <a:outerShdw blurRad="101600" dist="38100" dir="8100000" algn="bl" rotWithShape="0">
              <a:srgbClr val="000000">
                <a:alpha val="18000"/>
              </a:srgbClr>
            </a:outerShdw>
          </a:effectLst>
        </p:spPr>
      </p:sp>
      <p:sp>
        <p:nvSpPr>
          <p:cNvPr id="38" name="Shape 36"/>
          <p:cNvSpPr/>
          <p:nvPr/>
        </p:nvSpPr>
        <p:spPr>
          <a:xfrm>
            <a:off x="365760" y="4023360"/>
            <a:ext cx="109728" cy="868680"/>
          </a:xfrm>
          <a:prstGeom prst="rect">
            <a:avLst/>
          </a:prstGeom>
          <a:solidFill>
            <a:srgbClr val="1A8754"/>
          </a:solidFill>
          <a:ln/>
        </p:spPr>
      </p:sp>
      <p:sp>
        <p:nvSpPr>
          <p:cNvPr id="39" name="Shape 37"/>
          <p:cNvSpPr/>
          <p:nvPr/>
        </p:nvSpPr>
        <p:spPr>
          <a:xfrm>
            <a:off x="594360" y="4224528"/>
            <a:ext cx="457200" cy="457200"/>
          </a:xfrm>
          <a:prstGeom prst="ellipse">
            <a:avLst/>
          </a:prstGeom>
          <a:solidFill>
            <a:srgbClr val="1A8754">
              <a:alpha val="80000"/>
            </a:srgbClr>
          </a:solidFill>
          <a:ln/>
        </p:spPr>
      </p:sp>
      <p:sp>
        <p:nvSpPr>
          <p:cNvPr id="40" name="Text 38"/>
          <p:cNvSpPr/>
          <p:nvPr/>
        </p:nvSpPr>
        <p:spPr>
          <a:xfrm>
            <a:off x="594360" y="422452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41" name="Text 39"/>
          <p:cNvSpPr/>
          <p:nvPr/>
        </p:nvSpPr>
        <p:spPr>
          <a:xfrm>
            <a:off x="1188720" y="4096512"/>
            <a:ext cx="2926080" cy="347472"/>
          </a:xfrm>
          <a:prstGeom prst="rect">
            <a:avLst/>
          </a:prstGeom>
          <a:noFill/>
          <a:ln/>
        </p:spPr>
        <p:txBody>
          <a:bodyPr wrap="square" lIns="0" tIns="0" rIns="0" bIns="0"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OPEC Basket</a:t>
            </a:r>
            <a:endParaRPr lang="en-US" sz="1400" dirty="0"/>
          </a:p>
        </p:txBody>
      </p:sp>
      <p:sp>
        <p:nvSpPr>
          <p:cNvPr id="42" name="Text 40"/>
          <p:cNvSpPr/>
          <p:nvPr/>
        </p:nvSpPr>
        <p:spPr>
          <a:xfrm>
            <a:off x="1188720" y="4480560"/>
            <a:ext cx="3566160" cy="347472"/>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Average of OPEC member crude prices — reference for OPEC production decisions</a:t>
            </a:r>
            <a:endParaRPr lang="en-US" sz="1050" dirty="0"/>
          </a:p>
        </p:txBody>
      </p:sp>
      <p:sp>
        <p:nvSpPr>
          <p:cNvPr id="43" name="Shape 41"/>
          <p:cNvSpPr/>
          <p:nvPr/>
        </p:nvSpPr>
        <p:spPr>
          <a:xfrm>
            <a:off x="5029200" y="4160520"/>
            <a:ext cx="1280160" cy="256032"/>
          </a:xfrm>
          <a:prstGeom prst="rect">
            <a:avLst/>
          </a:prstGeom>
          <a:solidFill>
            <a:srgbClr val="1A8754">
              <a:alpha val="15000"/>
            </a:srgbClr>
          </a:solidFill>
          <a:ln/>
        </p:spPr>
      </p:sp>
      <p:sp>
        <p:nvSpPr>
          <p:cNvPr id="44" name="Text 42"/>
          <p:cNvSpPr/>
          <p:nvPr/>
        </p:nvSpPr>
        <p:spPr>
          <a:xfrm>
            <a:off x="5029200" y="4160520"/>
            <a:ext cx="1280160" cy="256032"/>
          </a:xfrm>
          <a:prstGeom prst="rect">
            <a:avLst/>
          </a:prstGeom>
          <a:noFill/>
          <a:ln/>
        </p:spPr>
        <p:txBody>
          <a:bodyPr wrap="square" rtlCol="0" anchor="ctr"/>
          <a:lstStyle/>
          <a:p>
            <a:pPr marL="0" indent="0" algn="ctr">
              <a:buNone/>
            </a:pPr>
            <a:r>
              <a:rPr lang="en-US" sz="900" b="1" dirty="0">
                <a:solidFill>
                  <a:srgbClr val="1A8754"/>
                </a:solidFill>
                <a:latin typeface="Calibri" pitchFamily="34" charset="0"/>
                <a:ea typeface="Calibri" pitchFamily="34" charset="-122"/>
                <a:cs typeface="Calibri" pitchFamily="34" charset="-120"/>
              </a:rPr>
              <a:t>Varies</a:t>
            </a:r>
            <a:endParaRPr lang="en-US" sz="900" dirty="0"/>
          </a:p>
        </p:txBody>
      </p:sp>
      <p:sp>
        <p:nvSpPr>
          <p:cNvPr id="45" name="Shape 43"/>
          <p:cNvSpPr/>
          <p:nvPr/>
        </p:nvSpPr>
        <p:spPr>
          <a:xfrm>
            <a:off x="6492240" y="4160520"/>
            <a:ext cx="1371600" cy="256032"/>
          </a:xfrm>
          <a:prstGeom prst="rect">
            <a:avLst/>
          </a:prstGeom>
          <a:solidFill>
            <a:srgbClr val="1A8754">
              <a:alpha val="15000"/>
            </a:srgbClr>
          </a:solidFill>
          <a:ln/>
        </p:spPr>
      </p:sp>
      <p:sp>
        <p:nvSpPr>
          <p:cNvPr id="46" name="Text 44"/>
          <p:cNvSpPr/>
          <p:nvPr/>
        </p:nvSpPr>
        <p:spPr>
          <a:xfrm>
            <a:off x="6492240" y="4160520"/>
            <a:ext cx="1371600" cy="256032"/>
          </a:xfrm>
          <a:prstGeom prst="rect">
            <a:avLst/>
          </a:prstGeom>
          <a:noFill/>
          <a:ln/>
        </p:spPr>
        <p:txBody>
          <a:bodyPr wrap="square" rtlCol="0" anchor="ctr"/>
          <a:lstStyle/>
          <a:p>
            <a:pPr marL="0" indent="0" algn="ctr">
              <a:buNone/>
            </a:pPr>
            <a:r>
              <a:rPr lang="en-US" sz="900" b="1" dirty="0">
                <a:solidFill>
                  <a:srgbClr val="1A8754"/>
                </a:solidFill>
                <a:latin typeface="Calibri" pitchFamily="34" charset="0"/>
                <a:ea typeface="Calibri" pitchFamily="34" charset="-122"/>
                <a:cs typeface="Calibri" pitchFamily="34" charset="-120"/>
              </a:rPr>
              <a:t>Varies</a:t>
            </a:r>
            <a:endParaRPr lang="en-US" sz="900" dirty="0"/>
          </a:p>
        </p:txBody>
      </p:sp>
      <p:sp>
        <p:nvSpPr>
          <p:cNvPr id="47" name="Text 45"/>
          <p:cNvSpPr/>
          <p:nvPr/>
        </p:nvSpPr>
        <p:spPr>
          <a:xfrm>
            <a:off x="5029200" y="4526280"/>
            <a:ext cx="3291840" cy="274320"/>
          </a:xfrm>
          <a:prstGeom prst="rect">
            <a:avLst/>
          </a:prstGeom>
          <a:noFill/>
          <a:ln/>
        </p:spPr>
        <p:txBody>
          <a:bodyPr wrap="square" lIns="0" tIns="0" rIns="0" bIns="0" rtlCol="0" anchor="ctr"/>
          <a:lstStyle/>
          <a:p>
            <a:pPr marL="0" indent="0">
              <a:buNone/>
            </a:pPr>
            <a:r>
              <a:rPr lang="en-US" sz="1000" dirty="0">
                <a:solidFill>
                  <a:srgbClr val="8FA3B1"/>
                </a:solidFill>
                <a:latin typeface="Calibri" pitchFamily="34" charset="0"/>
                <a:ea typeface="Calibri" pitchFamily="34" charset="-122"/>
                <a:cs typeface="Calibri" pitchFamily="34" charset="-120"/>
              </a:rPr>
              <a:t>📍 Multi-country blend</a:t>
            </a:r>
            <a:endParaRPr lang="en-US" sz="1000" dirty="0"/>
          </a:p>
        </p:txBody>
      </p:sp>
      <p:sp>
        <p:nvSpPr>
          <p:cNvPr id="48" name="Text 46"/>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Oil Market Structure &amp; Key Pricing Factors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Text 2"/>
          <p:cNvSpPr/>
          <p:nvPr/>
        </p:nvSpPr>
        <p:spPr>
          <a:xfrm>
            <a:off x="365760" y="1005840"/>
            <a:ext cx="3931920" cy="365760"/>
          </a:xfrm>
          <a:prstGeom prst="rect">
            <a:avLst/>
          </a:prstGeom>
          <a:noFill/>
          <a:ln/>
        </p:spPr>
        <p:txBody>
          <a:bodyPr wrap="square"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Market Participants</a:t>
            </a:r>
            <a:endParaRPr lang="en-US" sz="1500" dirty="0"/>
          </a:p>
        </p:txBody>
      </p:sp>
      <p:sp>
        <p:nvSpPr>
          <p:cNvPr id="5" name="Shape 3"/>
          <p:cNvSpPr/>
          <p:nvPr/>
        </p:nvSpPr>
        <p:spPr>
          <a:xfrm>
            <a:off x="365760" y="1417320"/>
            <a:ext cx="256032" cy="256032"/>
          </a:xfrm>
          <a:prstGeom prst="ellipse">
            <a:avLst/>
          </a:prstGeom>
          <a:solidFill>
            <a:srgbClr val="C9943A"/>
          </a:solidFill>
          <a:ln/>
        </p:spPr>
      </p:sp>
      <p:sp>
        <p:nvSpPr>
          <p:cNvPr id="6" name="Text 4"/>
          <p:cNvSpPr/>
          <p:nvPr/>
        </p:nvSpPr>
        <p:spPr>
          <a:xfrm>
            <a:off x="731520" y="1389888"/>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OPEC+ — Cartel controlling ~40% of global oil supply</a:t>
            </a:r>
            <a:endParaRPr lang="en-US" sz="1100" dirty="0"/>
          </a:p>
        </p:txBody>
      </p:sp>
      <p:sp>
        <p:nvSpPr>
          <p:cNvPr id="7" name="Shape 5"/>
          <p:cNvSpPr/>
          <p:nvPr/>
        </p:nvSpPr>
        <p:spPr>
          <a:xfrm>
            <a:off x="365760" y="1911096"/>
            <a:ext cx="256032" cy="256032"/>
          </a:xfrm>
          <a:prstGeom prst="ellipse">
            <a:avLst/>
          </a:prstGeom>
          <a:solidFill>
            <a:srgbClr val="C9943A"/>
          </a:solidFill>
          <a:ln/>
        </p:spPr>
      </p:sp>
      <p:sp>
        <p:nvSpPr>
          <p:cNvPr id="8" name="Text 6"/>
          <p:cNvSpPr/>
          <p:nvPr/>
        </p:nvSpPr>
        <p:spPr>
          <a:xfrm>
            <a:off x="731520" y="1883664"/>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National Oil Cos. (Saudi Aramco, ADNOC, ONGC)</a:t>
            </a:r>
            <a:endParaRPr lang="en-US" sz="1100" dirty="0"/>
          </a:p>
        </p:txBody>
      </p:sp>
      <p:sp>
        <p:nvSpPr>
          <p:cNvPr id="9" name="Shape 7"/>
          <p:cNvSpPr/>
          <p:nvPr/>
        </p:nvSpPr>
        <p:spPr>
          <a:xfrm>
            <a:off x="365760" y="2404872"/>
            <a:ext cx="256032" cy="256032"/>
          </a:xfrm>
          <a:prstGeom prst="ellipse">
            <a:avLst/>
          </a:prstGeom>
          <a:solidFill>
            <a:srgbClr val="C9943A"/>
          </a:solidFill>
          <a:ln/>
        </p:spPr>
      </p:sp>
      <p:sp>
        <p:nvSpPr>
          <p:cNvPr id="10" name="Text 8"/>
          <p:cNvSpPr/>
          <p:nvPr/>
        </p:nvSpPr>
        <p:spPr>
          <a:xfrm>
            <a:off x="731520" y="2377440"/>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Intl. Oil Cos. (Shell, BP, ExxonMobil)</a:t>
            </a:r>
            <a:endParaRPr lang="en-US" sz="1100" dirty="0"/>
          </a:p>
        </p:txBody>
      </p:sp>
      <p:sp>
        <p:nvSpPr>
          <p:cNvPr id="11" name="Shape 9"/>
          <p:cNvSpPr/>
          <p:nvPr/>
        </p:nvSpPr>
        <p:spPr>
          <a:xfrm>
            <a:off x="365760" y="2898648"/>
            <a:ext cx="256032" cy="256032"/>
          </a:xfrm>
          <a:prstGeom prst="ellipse">
            <a:avLst/>
          </a:prstGeom>
          <a:solidFill>
            <a:srgbClr val="C9943A"/>
          </a:solidFill>
          <a:ln/>
        </p:spPr>
      </p:sp>
      <p:sp>
        <p:nvSpPr>
          <p:cNvPr id="12" name="Text 10"/>
          <p:cNvSpPr/>
          <p:nvPr/>
        </p:nvSpPr>
        <p:spPr>
          <a:xfrm>
            <a:off x="731520" y="2871216"/>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Commodity Exchanges (NYMEX, ICE, MCX India)</a:t>
            </a:r>
            <a:endParaRPr lang="en-US" sz="1100" dirty="0"/>
          </a:p>
        </p:txBody>
      </p:sp>
      <p:sp>
        <p:nvSpPr>
          <p:cNvPr id="13" name="Shape 11"/>
          <p:cNvSpPr/>
          <p:nvPr/>
        </p:nvSpPr>
        <p:spPr>
          <a:xfrm>
            <a:off x="365760" y="3392424"/>
            <a:ext cx="256032" cy="256032"/>
          </a:xfrm>
          <a:prstGeom prst="ellipse">
            <a:avLst/>
          </a:prstGeom>
          <a:solidFill>
            <a:srgbClr val="C9943A"/>
          </a:solidFill>
          <a:ln/>
        </p:spPr>
      </p:sp>
      <p:sp>
        <p:nvSpPr>
          <p:cNvPr id="14" name="Text 12"/>
          <p:cNvSpPr/>
          <p:nvPr/>
        </p:nvSpPr>
        <p:spPr>
          <a:xfrm>
            <a:off x="731520" y="3364992"/>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Hedge Funds &amp; Speculators</a:t>
            </a:r>
            <a:endParaRPr lang="en-US" sz="1100" dirty="0"/>
          </a:p>
        </p:txBody>
      </p:sp>
      <p:sp>
        <p:nvSpPr>
          <p:cNvPr id="15" name="Shape 13"/>
          <p:cNvSpPr/>
          <p:nvPr/>
        </p:nvSpPr>
        <p:spPr>
          <a:xfrm>
            <a:off x="365760" y="3886200"/>
            <a:ext cx="256032" cy="256032"/>
          </a:xfrm>
          <a:prstGeom prst="ellipse">
            <a:avLst/>
          </a:prstGeom>
          <a:solidFill>
            <a:srgbClr val="C9943A"/>
          </a:solidFill>
          <a:ln/>
        </p:spPr>
      </p:sp>
      <p:sp>
        <p:nvSpPr>
          <p:cNvPr id="16" name="Text 14"/>
          <p:cNvSpPr/>
          <p:nvPr/>
        </p:nvSpPr>
        <p:spPr>
          <a:xfrm>
            <a:off x="731520" y="3858768"/>
            <a:ext cx="356616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Refineries &amp; End-Users (Airlines, Manufacturers)</a:t>
            </a:r>
            <a:endParaRPr lang="en-US" sz="1100" dirty="0"/>
          </a:p>
        </p:txBody>
      </p:sp>
      <p:sp>
        <p:nvSpPr>
          <p:cNvPr id="17" name="Text 15"/>
          <p:cNvSpPr/>
          <p:nvPr/>
        </p:nvSpPr>
        <p:spPr>
          <a:xfrm>
            <a:off x="4754880" y="1005840"/>
            <a:ext cx="4023360" cy="365760"/>
          </a:xfrm>
          <a:prstGeom prst="rect">
            <a:avLst/>
          </a:prstGeom>
          <a:noFill/>
          <a:ln/>
        </p:spPr>
        <p:txBody>
          <a:bodyPr wrap="square" rtlCol="0" anchor="ctr"/>
          <a:lstStyle/>
          <a:p>
            <a:pPr marL="0" indent="0">
              <a:buNone/>
            </a:pPr>
            <a:r>
              <a:rPr lang="en-US" sz="1500" b="1" dirty="0">
                <a:solidFill>
                  <a:srgbClr val="0D1F3C"/>
                </a:solidFill>
                <a:latin typeface="Georgia" pitchFamily="34" charset="0"/>
                <a:ea typeface="Georgia" pitchFamily="34" charset="-122"/>
                <a:cs typeface="Georgia" pitchFamily="34" charset="-120"/>
              </a:rPr>
              <a:t>Key Pricing Factors</a:t>
            </a:r>
            <a:endParaRPr lang="en-US" sz="1500" dirty="0"/>
          </a:p>
        </p:txBody>
      </p:sp>
      <p:sp>
        <p:nvSpPr>
          <p:cNvPr id="18" name="Shape 16"/>
          <p:cNvSpPr/>
          <p:nvPr/>
        </p:nvSpPr>
        <p:spPr>
          <a:xfrm>
            <a:off x="4754880" y="1417320"/>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19" name="Shape 17"/>
          <p:cNvSpPr/>
          <p:nvPr/>
        </p:nvSpPr>
        <p:spPr>
          <a:xfrm>
            <a:off x="4754880" y="1417320"/>
            <a:ext cx="64008" cy="402336"/>
          </a:xfrm>
          <a:prstGeom prst="rect">
            <a:avLst/>
          </a:prstGeom>
          <a:solidFill>
            <a:srgbClr val="1B7FA6"/>
          </a:solidFill>
          <a:ln/>
        </p:spPr>
      </p:sp>
      <p:sp>
        <p:nvSpPr>
          <p:cNvPr id="20" name="Text 18"/>
          <p:cNvSpPr/>
          <p:nvPr/>
        </p:nvSpPr>
        <p:spPr>
          <a:xfrm>
            <a:off x="4892040" y="1417320"/>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5303520" y="1417320"/>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Supply &amp; Demand</a:t>
            </a:r>
            <a:endParaRPr lang="en-US" sz="1100" dirty="0"/>
          </a:p>
        </p:txBody>
      </p:sp>
      <p:sp>
        <p:nvSpPr>
          <p:cNvPr id="22" name="Text 20"/>
          <p:cNvSpPr/>
          <p:nvPr/>
        </p:nvSpPr>
        <p:spPr>
          <a:xfrm>
            <a:off x="6720840" y="1417320"/>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OPEC cuts/surpluses drive global prices</a:t>
            </a:r>
            <a:endParaRPr lang="en-US" sz="950" dirty="0"/>
          </a:p>
        </p:txBody>
      </p:sp>
      <p:sp>
        <p:nvSpPr>
          <p:cNvPr id="23" name="Shape 21"/>
          <p:cNvSpPr/>
          <p:nvPr/>
        </p:nvSpPr>
        <p:spPr>
          <a:xfrm>
            <a:off x="4754880" y="1911096"/>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24" name="Shape 22"/>
          <p:cNvSpPr/>
          <p:nvPr/>
        </p:nvSpPr>
        <p:spPr>
          <a:xfrm>
            <a:off x="4754880" y="1911096"/>
            <a:ext cx="64008" cy="402336"/>
          </a:xfrm>
          <a:prstGeom prst="rect">
            <a:avLst/>
          </a:prstGeom>
          <a:solidFill>
            <a:srgbClr val="C0392B"/>
          </a:solidFill>
          <a:ln/>
        </p:spPr>
      </p:sp>
      <p:sp>
        <p:nvSpPr>
          <p:cNvPr id="25" name="Text 23"/>
          <p:cNvSpPr/>
          <p:nvPr/>
        </p:nvSpPr>
        <p:spPr>
          <a:xfrm>
            <a:off x="4892040" y="1911096"/>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5303520" y="1911096"/>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Geopolitics</a:t>
            </a:r>
            <a:endParaRPr lang="en-US" sz="1100" dirty="0"/>
          </a:p>
        </p:txBody>
      </p:sp>
      <p:sp>
        <p:nvSpPr>
          <p:cNvPr id="27" name="Text 25"/>
          <p:cNvSpPr/>
          <p:nvPr/>
        </p:nvSpPr>
        <p:spPr>
          <a:xfrm>
            <a:off x="6720840" y="1911096"/>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Conflicts, sanctions (Iran, Russia)</a:t>
            </a:r>
            <a:endParaRPr lang="en-US" sz="950" dirty="0"/>
          </a:p>
        </p:txBody>
      </p:sp>
      <p:sp>
        <p:nvSpPr>
          <p:cNvPr id="28" name="Shape 26"/>
          <p:cNvSpPr/>
          <p:nvPr/>
        </p:nvSpPr>
        <p:spPr>
          <a:xfrm>
            <a:off x="4754880" y="2404872"/>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29" name="Shape 27"/>
          <p:cNvSpPr/>
          <p:nvPr/>
        </p:nvSpPr>
        <p:spPr>
          <a:xfrm>
            <a:off x="4754880" y="2404872"/>
            <a:ext cx="64008" cy="402336"/>
          </a:xfrm>
          <a:prstGeom prst="rect">
            <a:avLst/>
          </a:prstGeom>
          <a:solidFill>
            <a:srgbClr val="C9943A"/>
          </a:solidFill>
          <a:ln/>
        </p:spPr>
      </p:sp>
      <p:sp>
        <p:nvSpPr>
          <p:cNvPr id="30" name="Text 28"/>
          <p:cNvSpPr/>
          <p:nvPr/>
        </p:nvSpPr>
        <p:spPr>
          <a:xfrm>
            <a:off x="4892040" y="2404872"/>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303520" y="2404872"/>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USD Strength</a:t>
            </a:r>
            <a:endParaRPr lang="en-US" sz="1100" dirty="0"/>
          </a:p>
        </p:txBody>
      </p:sp>
      <p:sp>
        <p:nvSpPr>
          <p:cNvPr id="32" name="Text 30"/>
          <p:cNvSpPr/>
          <p:nvPr/>
        </p:nvSpPr>
        <p:spPr>
          <a:xfrm>
            <a:off x="6720840" y="2404872"/>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Inverse: ↑ USD → ↓ Oil price</a:t>
            </a:r>
            <a:endParaRPr lang="en-US" sz="950" dirty="0"/>
          </a:p>
        </p:txBody>
      </p:sp>
      <p:sp>
        <p:nvSpPr>
          <p:cNvPr id="33" name="Shape 31"/>
          <p:cNvSpPr/>
          <p:nvPr/>
        </p:nvSpPr>
        <p:spPr>
          <a:xfrm>
            <a:off x="4754880" y="2898648"/>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34" name="Shape 32"/>
          <p:cNvSpPr/>
          <p:nvPr/>
        </p:nvSpPr>
        <p:spPr>
          <a:xfrm>
            <a:off x="4754880" y="2898648"/>
            <a:ext cx="64008" cy="402336"/>
          </a:xfrm>
          <a:prstGeom prst="rect">
            <a:avLst/>
          </a:prstGeom>
          <a:solidFill>
            <a:srgbClr val="1A8754"/>
          </a:solidFill>
          <a:ln/>
        </p:spPr>
      </p:sp>
      <p:sp>
        <p:nvSpPr>
          <p:cNvPr id="35" name="Text 33"/>
          <p:cNvSpPr/>
          <p:nvPr/>
        </p:nvSpPr>
        <p:spPr>
          <a:xfrm>
            <a:off x="4892040" y="2898648"/>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5303520" y="2898648"/>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Speculative Trading</a:t>
            </a:r>
            <a:endParaRPr lang="en-US" sz="1100" dirty="0"/>
          </a:p>
        </p:txBody>
      </p:sp>
      <p:sp>
        <p:nvSpPr>
          <p:cNvPr id="37" name="Text 35"/>
          <p:cNvSpPr/>
          <p:nvPr/>
        </p:nvSpPr>
        <p:spPr>
          <a:xfrm>
            <a:off x="6720840" y="2898648"/>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Futures &amp; options on NYMEX / ICE</a:t>
            </a:r>
            <a:endParaRPr lang="en-US" sz="950" dirty="0"/>
          </a:p>
        </p:txBody>
      </p:sp>
      <p:sp>
        <p:nvSpPr>
          <p:cNvPr id="38" name="Shape 36"/>
          <p:cNvSpPr/>
          <p:nvPr/>
        </p:nvSpPr>
        <p:spPr>
          <a:xfrm>
            <a:off x="4754880" y="3392424"/>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39" name="Shape 37"/>
          <p:cNvSpPr/>
          <p:nvPr/>
        </p:nvSpPr>
        <p:spPr>
          <a:xfrm>
            <a:off x="4754880" y="3392424"/>
            <a:ext cx="64008" cy="402336"/>
          </a:xfrm>
          <a:prstGeom prst="rect">
            <a:avLst/>
          </a:prstGeom>
          <a:solidFill>
            <a:srgbClr val="132952"/>
          </a:solidFill>
          <a:ln/>
        </p:spPr>
      </p:sp>
      <p:sp>
        <p:nvSpPr>
          <p:cNvPr id="40" name="Text 38"/>
          <p:cNvSpPr/>
          <p:nvPr/>
        </p:nvSpPr>
        <p:spPr>
          <a:xfrm>
            <a:off x="4892040" y="3392424"/>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5303520" y="3392424"/>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Economic Growth</a:t>
            </a:r>
            <a:endParaRPr lang="en-US" sz="1100" dirty="0"/>
          </a:p>
        </p:txBody>
      </p:sp>
      <p:sp>
        <p:nvSpPr>
          <p:cNvPr id="42" name="Text 40"/>
          <p:cNvSpPr/>
          <p:nvPr/>
        </p:nvSpPr>
        <p:spPr>
          <a:xfrm>
            <a:off x="6720840" y="3392424"/>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Recession lowers demand; booms raise it</a:t>
            </a:r>
            <a:endParaRPr lang="en-US" sz="950" dirty="0"/>
          </a:p>
        </p:txBody>
      </p:sp>
      <p:sp>
        <p:nvSpPr>
          <p:cNvPr id="43" name="Shape 41"/>
          <p:cNvSpPr/>
          <p:nvPr/>
        </p:nvSpPr>
        <p:spPr>
          <a:xfrm>
            <a:off x="4754880" y="3886200"/>
            <a:ext cx="4023360" cy="402336"/>
          </a:xfrm>
          <a:prstGeom prst="rect">
            <a:avLst/>
          </a:prstGeom>
          <a:solidFill>
            <a:srgbClr val="FFFFFF"/>
          </a:solidFill>
          <a:ln/>
          <a:effectLst>
            <a:outerShdw blurRad="101600" dist="38100" dir="8100000" algn="bl" rotWithShape="0">
              <a:srgbClr val="000000">
                <a:alpha val="18000"/>
              </a:srgbClr>
            </a:outerShdw>
          </a:effectLst>
        </p:spPr>
      </p:sp>
      <p:sp>
        <p:nvSpPr>
          <p:cNvPr id="44" name="Shape 42"/>
          <p:cNvSpPr/>
          <p:nvPr/>
        </p:nvSpPr>
        <p:spPr>
          <a:xfrm>
            <a:off x="4754880" y="3886200"/>
            <a:ext cx="64008" cy="402336"/>
          </a:xfrm>
          <a:prstGeom prst="rect">
            <a:avLst/>
          </a:prstGeom>
          <a:solidFill>
            <a:srgbClr val="8FA3B1"/>
          </a:solidFill>
          <a:ln/>
        </p:spPr>
      </p:sp>
      <p:sp>
        <p:nvSpPr>
          <p:cNvPr id="45" name="Text 43"/>
          <p:cNvSpPr/>
          <p:nvPr/>
        </p:nvSpPr>
        <p:spPr>
          <a:xfrm>
            <a:off x="4892040" y="3886200"/>
            <a:ext cx="365760" cy="402336"/>
          </a:xfrm>
          <a:prstGeom prst="rect">
            <a:avLst/>
          </a:prstGeom>
          <a:noFill/>
          <a:ln/>
        </p:spPr>
        <p:txBody>
          <a:bodyPr wrap="square"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46" name="Text 44"/>
          <p:cNvSpPr/>
          <p:nvPr/>
        </p:nvSpPr>
        <p:spPr>
          <a:xfrm>
            <a:off x="5303520" y="3886200"/>
            <a:ext cx="1371600" cy="402336"/>
          </a:xfrm>
          <a:prstGeom prst="rect">
            <a:avLst/>
          </a:prstGeom>
          <a:noFill/>
          <a:ln/>
        </p:spPr>
        <p:txBody>
          <a:bodyPr wrap="square" lIns="0" tIns="0" rIns="0" bIns="0" rtlCol="0" anchor="ctr"/>
          <a:lstStyle/>
          <a:p>
            <a:pPr marL="0" indent="0">
              <a:buNone/>
            </a:pPr>
            <a:r>
              <a:rPr lang="en-US" sz="1100" b="1" dirty="0">
                <a:solidFill>
                  <a:srgbClr val="0D1F3C"/>
                </a:solidFill>
                <a:latin typeface="Georgia" pitchFamily="34" charset="0"/>
                <a:ea typeface="Georgia" pitchFamily="34" charset="-122"/>
                <a:cs typeface="Georgia" pitchFamily="34" charset="-120"/>
              </a:rPr>
              <a:t>EIA Inventory Data</a:t>
            </a:r>
            <a:endParaRPr lang="en-US" sz="1100" dirty="0"/>
          </a:p>
        </p:txBody>
      </p:sp>
      <p:sp>
        <p:nvSpPr>
          <p:cNvPr id="47" name="Text 45"/>
          <p:cNvSpPr/>
          <p:nvPr/>
        </p:nvSpPr>
        <p:spPr>
          <a:xfrm>
            <a:off x="6720840" y="3886200"/>
            <a:ext cx="20116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US weekly inventory reports (Wednesdays)</a:t>
            </a:r>
            <a:endParaRPr lang="en-US" sz="950" dirty="0"/>
          </a:p>
        </p:txBody>
      </p:sp>
      <p:sp>
        <p:nvSpPr>
          <p:cNvPr id="48" name="Text 46"/>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9943A"/>
          </a:solidFill>
          <a:ln/>
        </p:spPr>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300" b="1" kern="0" spc="400" dirty="0">
                <a:solidFill>
                  <a:srgbClr val="E8B455"/>
                </a:solidFill>
                <a:latin typeface="Calibri" pitchFamily="34" charset="0"/>
                <a:ea typeface="Calibri" pitchFamily="34" charset="-122"/>
                <a:cs typeface="Calibri" pitchFamily="34" charset="-120"/>
              </a:rPr>
              <a:t>SECTION 02</a:t>
            </a:r>
            <a:endParaRPr lang="en-US" sz="1300" dirty="0"/>
          </a:p>
        </p:txBody>
      </p:sp>
      <p:sp>
        <p:nvSpPr>
          <p:cNvPr id="4" name="Text 2"/>
          <p:cNvSpPr/>
          <p:nvPr/>
        </p:nvSpPr>
        <p:spPr>
          <a:xfrm>
            <a:off x="457200" y="1508760"/>
            <a:ext cx="8229600" cy="164592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Foreign Exchange</a:t>
            </a:r>
            <a:endParaRPr lang="en-US" sz="4400" dirty="0"/>
          </a:p>
          <a:p>
            <a:pPr marL="0" indent="0">
              <a:buNone/>
            </a:pPr>
            <a:r>
              <a:rPr lang="en-US" sz="4400" b="1" dirty="0">
                <a:solidFill>
                  <a:srgbClr val="FFFFFF"/>
                </a:solidFill>
                <a:latin typeface="Georgia" pitchFamily="34" charset="0"/>
                <a:ea typeface="Georgia" pitchFamily="34" charset="-122"/>
                <a:cs typeface="Georgia" pitchFamily="34" charset="-120"/>
              </a:rPr>
              <a:t>Markets</a:t>
            </a:r>
            <a:endParaRPr lang="en-US" sz="4400" dirty="0"/>
          </a:p>
        </p:txBody>
      </p:sp>
      <p:sp>
        <p:nvSpPr>
          <p:cNvPr id="5" name="Text 3"/>
          <p:cNvSpPr/>
          <p:nvPr/>
        </p:nvSpPr>
        <p:spPr>
          <a:xfrm>
            <a:off x="457200" y="3246120"/>
            <a:ext cx="8229600" cy="548640"/>
          </a:xfrm>
          <a:prstGeom prst="rect">
            <a:avLst/>
          </a:prstGeom>
          <a:noFill/>
          <a:ln/>
        </p:spPr>
        <p:txBody>
          <a:bodyPr wrap="square" rtlCol="0" anchor="ctr"/>
          <a:lstStyle/>
          <a:p>
            <a:pPr marL="0" indent="0">
              <a:buNone/>
            </a:pPr>
            <a:r>
              <a:rPr lang="en-US" sz="1600" i="1" dirty="0">
                <a:solidFill>
                  <a:srgbClr val="8FA3B1"/>
                </a:solidFill>
                <a:latin typeface="Calibri" pitchFamily="34" charset="0"/>
                <a:ea typeface="Calibri" pitchFamily="34" charset="-122"/>
                <a:cs typeface="Calibri" pitchFamily="34" charset="-120"/>
              </a:rPr>
              <a:t>Structure • Instruments • Rate Mechanisms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Introduction to Foreign Exchange Markets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2651760" cy="3337560"/>
          </a:xfrm>
          <a:prstGeom prst="rect">
            <a:avLst/>
          </a:prstGeom>
          <a:solidFill>
            <a:srgbClr val="0D1F3C"/>
          </a:solidFill>
          <a:ln/>
          <a:effectLst>
            <a:outerShdw blurRad="101600" dist="38100" dir="8100000" algn="bl" rotWithShape="0">
              <a:srgbClr val="000000">
                <a:alpha val="18000"/>
              </a:srgbClr>
            </a:outerShdw>
          </a:effectLst>
        </p:spPr>
      </p:sp>
      <p:sp>
        <p:nvSpPr>
          <p:cNvPr id="5" name="Text 3"/>
          <p:cNvSpPr/>
          <p:nvPr/>
        </p:nvSpPr>
        <p:spPr>
          <a:xfrm>
            <a:off x="502920" y="1143000"/>
            <a:ext cx="2377440"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World's Largest Market</a:t>
            </a:r>
            <a:endParaRPr lang="en-US" sz="1400" dirty="0"/>
          </a:p>
        </p:txBody>
      </p:sp>
      <p:sp>
        <p:nvSpPr>
          <p:cNvPr id="6" name="Shape 4"/>
          <p:cNvSpPr/>
          <p:nvPr/>
        </p:nvSpPr>
        <p:spPr>
          <a:xfrm>
            <a:off x="502920" y="1691640"/>
            <a:ext cx="2377440" cy="36576"/>
          </a:xfrm>
          <a:prstGeom prst="rect">
            <a:avLst/>
          </a:prstGeom>
          <a:solidFill>
            <a:srgbClr val="FFFFFF">
              <a:alpha val="40000"/>
            </a:srgbClr>
          </a:solidFill>
          <a:ln/>
        </p:spPr>
      </p:sp>
      <p:sp>
        <p:nvSpPr>
          <p:cNvPr id="7" name="Text 5"/>
          <p:cNvSpPr/>
          <p:nvPr/>
        </p:nvSpPr>
        <p:spPr>
          <a:xfrm>
            <a:off x="457200" y="1783080"/>
            <a:ext cx="2468880" cy="914400"/>
          </a:xfrm>
          <a:prstGeom prst="rect">
            <a:avLst/>
          </a:prstGeom>
          <a:noFill/>
          <a:ln/>
        </p:spPr>
        <p:txBody>
          <a:bodyPr wrap="square" rtlCol="0" anchor="ctr"/>
          <a:lstStyle/>
          <a:p>
            <a:pPr marL="0" indent="0" algn="ctr">
              <a:buNone/>
            </a:pPr>
            <a:r>
              <a:rPr lang="en-US" sz="3400" b="1" dirty="0">
                <a:solidFill>
                  <a:srgbClr val="E8B455"/>
                </a:solidFill>
                <a:latin typeface="Georgia" pitchFamily="34" charset="0"/>
                <a:ea typeface="Georgia" pitchFamily="34" charset="-122"/>
                <a:cs typeface="Georgia" pitchFamily="34" charset="-120"/>
              </a:rPr>
              <a:t>$7.5T</a:t>
            </a:r>
            <a:endParaRPr lang="en-US" sz="3400" dirty="0"/>
          </a:p>
        </p:txBody>
      </p:sp>
      <p:sp>
        <p:nvSpPr>
          <p:cNvPr id="8" name="Text 6"/>
          <p:cNvSpPr/>
          <p:nvPr/>
        </p:nvSpPr>
        <p:spPr>
          <a:xfrm>
            <a:off x="502920" y="2788920"/>
            <a:ext cx="2377440" cy="1463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Daily trading volume surpasses all global stock markets combined. Operates 24 hours, 5 days a week.</a:t>
            </a:r>
            <a:endParaRPr lang="en-US" sz="1100" dirty="0"/>
          </a:p>
        </p:txBody>
      </p:sp>
      <p:sp>
        <p:nvSpPr>
          <p:cNvPr id="9" name="Shape 7"/>
          <p:cNvSpPr/>
          <p:nvPr/>
        </p:nvSpPr>
        <p:spPr>
          <a:xfrm>
            <a:off x="3246120" y="1005840"/>
            <a:ext cx="2651760" cy="3337560"/>
          </a:xfrm>
          <a:prstGeom prst="rect">
            <a:avLst/>
          </a:prstGeom>
          <a:solidFill>
            <a:srgbClr val="1B7FA6"/>
          </a:solidFill>
          <a:ln/>
          <a:effectLst>
            <a:outerShdw blurRad="101600" dist="38100" dir="8100000" algn="bl" rotWithShape="0">
              <a:srgbClr val="000000">
                <a:alpha val="18000"/>
              </a:srgbClr>
            </a:outerShdw>
          </a:effectLst>
        </p:spPr>
      </p:sp>
      <p:sp>
        <p:nvSpPr>
          <p:cNvPr id="10" name="Text 8"/>
          <p:cNvSpPr/>
          <p:nvPr/>
        </p:nvSpPr>
        <p:spPr>
          <a:xfrm>
            <a:off x="3383280" y="1143000"/>
            <a:ext cx="2377440"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OTC Market</a:t>
            </a:r>
            <a:endParaRPr lang="en-US" sz="1400" dirty="0"/>
          </a:p>
        </p:txBody>
      </p:sp>
      <p:sp>
        <p:nvSpPr>
          <p:cNvPr id="11" name="Shape 9"/>
          <p:cNvSpPr/>
          <p:nvPr/>
        </p:nvSpPr>
        <p:spPr>
          <a:xfrm>
            <a:off x="3383280" y="1691640"/>
            <a:ext cx="2377440" cy="36576"/>
          </a:xfrm>
          <a:prstGeom prst="rect">
            <a:avLst/>
          </a:prstGeom>
          <a:solidFill>
            <a:srgbClr val="FFFFFF">
              <a:alpha val="40000"/>
            </a:srgbClr>
          </a:solidFill>
          <a:ln/>
        </p:spPr>
      </p:sp>
      <p:sp>
        <p:nvSpPr>
          <p:cNvPr id="12" name="Text 10"/>
          <p:cNvSpPr/>
          <p:nvPr/>
        </p:nvSpPr>
        <p:spPr>
          <a:xfrm>
            <a:off x="3337560" y="1783080"/>
            <a:ext cx="2468880" cy="914400"/>
          </a:xfrm>
          <a:prstGeom prst="rect">
            <a:avLst/>
          </a:prstGeom>
          <a:noFill/>
          <a:ln/>
        </p:spPr>
        <p:txBody>
          <a:bodyPr wrap="square" rtlCol="0" anchor="ctr"/>
          <a:lstStyle/>
          <a:p>
            <a:pPr marL="0" indent="0" algn="ctr">
              <a:buNone/>
            </a:pPr>
            <a:r>
              <a:rPr lang="en-US" sz="3400" b="1" dirty="0">
                <a:solidFill>
                  <a:srgbClr val="E8B455"/>
                </a:solidFill>
                <a:latin typeface="Georgia" pitchFamily="34" charset="0"/>
                <a:ea typeface="Georgia" pitchFamily="34" charset="-122"/>
                <a:cs typeface="Georgia" pitchFamily="34" charset="-120"/>
              </a:rPr>
              <a:t>Decentralized</a:t>
            </a:r>
            <a:endParaRPr lang="en-US" sz="3400" dirty="0"/>
          </a:p>
        </p:txBody>
      </p:sp>
      <p:sp>
        <p:nvSpPr>
          <p:cNvPr id="13" name="Text 11"/>
          <p:cNvSpPr/>
          <p:nvPr/>
        </p:nvSpPr>
        <p:spPr>
          <a:xfrm>
            <a:off x="3383280" y="2788920"/>
            <a:ext cx="2377440" cy="1463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 single exchange. Trading occurs between banks, institutions &amp; brokers via electronic networks (EBS, Reuters).</a:t>
            </a:r>
            <a:endParaRPr lang="en-US" sz="1100" dirty="0"/>
          </a:p>
        </p:txBody>
      </p:sp>
      <p:sp>
        <p:nvSpPr>
          <p:cNvPr id="14" name="Shape 12"/>
          <p:cNvSpPr/>
          <p:nvPr/>
        </p:nvSpPr>
        <p:spPr>
          <a:xfrm>
            <a:off x="6126480" y="1005840"/>
            <a:ext cx="2651760" cy="3337560"/>
          </a:xfrm>
          <a:prstGeom prst="rect">
            <a:avLst/>
          </a:prstGeom>
          <a:solidFill>
            <a:srgbClr val="C9943A"/>
          </a:solidFill>
          <a:ln/>
          <a:effectLst>
            <a:outerShdw blurRad="101600" dist="38100" dir="8100000" algn="bl" rotWithShape="0">
              <a:srgbClr val="000000">
                <a:alpha val="18000"/>
              </a:srgbClr>
            </a:outerShdw>
          </a:effectLst>
        </p:spPr>
      </p:sp>
      <p:sp>
        <p:nvSpPr>
          <p:cNvPr id="15" name="Text 13"/>
          <p:cNvSpPr/>
          <p:nvPr/>
        </p:nvSpPr>
        <p:spPr>
          <a:xfrm>
            <a:off x="6263640" y="1143000"/>
            <a:ext cx="2377440"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Continuous Market</a:t>
            </a:r>
            <a:endParaRPr lang="en-US" sz="1400" dirty="0"/>
          </a:p>
        </p:txBody>
      </p:sp>
      <p:sp>
        <p:nvSpPr>
          <p:cNvPr id="16" name="Shape 14"/>
          <p:cNvSpPr/>
          <p:nvPr/>
        </p:nvSpPr>
        <p:spPr>
          <a:xfrm>
            <a:off x="6263640" y="1691640"/>
            <a:ext cx="2377440" cy="36576"/>
          </a:xfrm>
          <a:prstGeom prst="rect">
            <a:avLst/>
          </a:prstGeom>
          <a:solidFill>
            <a:srgbClr val="FFFFFF">
              <a:alpha val="40000"/>
            </a:srgbClr>
          </a:solidFill>
          <a:ln/>
        </p:spPr>
      </p:sp>
      <p:sp>
        <p:nvSpPr>
          <p:cNvPr id="17" name="Text 15"/>
          <p:cNvSpPr/>
          <p:nvPr/>
        </p:nvSpPr>
        <p:spPr>
          <a:xfrm>
            <a:off x="6217920" y="1783080"/>
            <a:ext cx="2468880" cy="914400"/>
          </a:xfrm>
          <a:prstGeom prst="rect">
            <a:avLst/>
          </a:prstGeom>
          <a:noFill/>
          <a:ln/>
        </p:spPr>
        <p:txBody>
          <a:bodyPr wrap="square" rtlCol="0" anchor="ctr"/>
          <a:lstStyle/>
          <a:p>
            <a:pPr marL="0" indent="0" algn="ctr">
              <a:buNone/>
            </a:pPr>
            <a:r>
              <a:rPr lang="en-US" sz="3400" b="1" dirty="0">
                <a:solidFill>
                  <a:srgbClr val="E8B455"/>
                </a:solidFill>
                <a:latin typeface="Georgia" pitchFamily="34" charset="0"/>
                <a:ea typeface="Georgia" pitchFamily="34" charset="-122"/>
                <a:cs typeface="Georgia" pitchFamily="34" charset="-120"/>
              </a:rPr>
              <a:t>24 / 5</a:t>
            </a:r>
            <a:endParaRPr lang="en-US" sz="3400" dirty="0"/>
          </a:p>
        </p:txBody>
      </p:sp>
      <p:sp>
        <p:nvSpPr>
          <p:cNvPr id="18" name="Text 16"/>
          <p:cNvSpPr/>
          <p:nvPr/>
        </p:nvSpPr>
        <p:spPr>
          <a:xfrm>
            <a:off x="6263640" y="2788920"/>
            <a:ext cx="2377440" cy="1463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Sydney → Tokyo → London → New York — a continuous global trading cycle, closing only on weekends.</a:t>
            </a:r>
            <a:endParaRPr lang="en-US" sz="1100" dirty="0"/>
          </a:p>
        </p:txBody>
      </p:sp>
      <p:sp>
        <p:nvSpPr>
          <p:cNvPr id="19" name="Shape 17"/>
          <p:cNvSpPr/>
          <p:nvPr/>
        </p:nvSpPr>
        <p:spPr>
          <a:xfrm>
            <a:off x="365760" y="4462272"/>
            <a:ext cx="8412480" cy="274320"/>
          </a:xfrm>
          <a:prstGeom prst="rect">
            <a:avLst/>
          </a:prstGeom>
          <a:solidFill>
            <a:srgbClr val="0D1F3C">
              <a:alpha val="15000"/>
            </a:srgbClr>
          </a:solidFill>
          <a:ln/>
        </p:spPr>
      </p:sp>
      <p:sp>
        <p:nvSpPr>
          <p:cNvPr id="20" name="Text 18"/>
          <p:cNvSpPr/>
          <p:nvPr/>
        </p:nvSpPr>
        <p:spPr>
          <a:xfrm>
            <a:off x="457200" y="4480560"/>
            <a:ext cx="8229600" cy="256032"/>
          </a:xfrm>
          <a:prstGeom prst="rect">
            <a:avLst/>
          </a:prstGeom>
          <a:noFill/>
          <a:ln/>
        </p:spPr>
        <p:txBody>
          <a:bodyPr wrap="square" rtlCol="0" anchor="ctr"/>
          <a:lstStyle/>
          <a:p>
            <a:pPr marL="0" indent="0" algn="ctr">
              <a:buNone/>
            </a:pPr>
            <a:r>
              <a:rPr lang="en-US" sz="950" i="1" dirty="0">
                <a:solidFill>
                  <a:srgbClr val="0D1F3C"/>
                </a:solidFill>
                <a:latin typeface="Calibri" pitchFamily="34" charset="0"/>
                <a:ea typeface="Calibri" pitchFamily="34" charset="-122"/>
                <a:cs typeface="Calibri" pitchFamily="34" charset="-120"/>
              </a:rPr>
              <a:t>India: RBI regulates the forex market under FEMA, 1999. Authorised Dealers (Banks) are key intermediaries.</a:t>
            </a:r>
            <a:endParaRPr lang="en-US" sz="950" dirty="0"/>
          </a:p>
        </p:txBody>
      </p:sp>
      <p:sp>
        <p:nvSpPr>
          <p:cNvPr id="21" name="Text 19"/>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Foreign Exchange Instruments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8412480" cy="713232"/>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365760" y="1005840"/>
            <a:ext cx="91440" cy="713232"/>
          </a:xfrm>
          <a:prstGeom prst="rect">
            <a:avLst/>
          </a:prstGeom>
          <a:solidFill>
            <a:srgbClr val="1B7FA6"/>
          </a:solidFill>
          <a:ln/>
        </p:spPr>
      </p:sp>
      <p:sp>
        <p:nvSpPr>
          <p:cNvPr id="6" name="Text 4"/>
          <p:cNvSpPr/>
          <p:nvPr/>
        </p:nvSpPr>
        <p:spPr>
          <a:xfrm>
            <a:off x="594360" y="1051560"/>
            <a:ext cx="2377440" cy="347472"/>
          </a:xfrm>
          <a:prstGeom prst="rect">
            <a:avLst/>
          </a:prstGeom>
          <a:noFill/>
          <a:ln/>
        </p:spPr>
        <p:txBody>
          <a:bodyPr wrap="square" lIns="0" tIns="0" rIns="0" bIns="0" rtlCol="0" anchor="ctr"/>
          <a:lstStyle/>
          <a:p>
            <a:pPr marL="0" indent="0">
              <a:buNone/>
            </a:pPr>
            <a:r>
              <a:rPr lang="en-US" sz="1300" b="1" dirty="0">
                <a:solidFill>
                  <a:srgbClr val="0D1F3C"/>
                </a:solidFill>
                <a:latin typeface="Georgia" pitchFamily="34" charset="0"/>
                <a:ea typeface="Georgia" pitchFamily="34" charset="-122"/>
                <a:cs typeface="Georgia" pitchFamily="34" charset="-120"/>
              </a:rPr>
              <a:t>1. Spot Transactions</a:t>
            </a:r>
            <a:endParaRPr lang="en-US" sz="1300" dirty="0"/>
          </a:p>
        </p:txBody>
      </p:sp>
      <p:sp>
        <p:nvSpPr>
          <p:cNvPr id="7" name="Text 5"/>
          <p:cNvSpPr/>
          <p:nvPr/>
        </p:nvSpPr>
        <p:spPr>
          <a:xfrm>
            <a:off x="594360" y="1399032"/>
            <a:ext cx="3840480" cy="27432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Exchange of currencies at current market (spot) rate for immediate settlement.</a:t>
            </a:r>
            <a:endParaRPr lang="en-US" sz="1050" dirty="0"/>
          </a:p>
        </p:txBody>
      </p:sp>
      <p:sp>
        <p:nvSpPr>
          <p:cNvPr id="8" name="Shape 6"/>
          <p:cNvSpPr/>
          <p:nvPr/>
        </p:nvSpPr>
        <p:spPr>
          <a:xfrm>
            <a:off x="4663440" y="1115568"/>
            <a:ext cx="1828800" cy="237744"/>
          </a:xfrm>
          <a:prstGeom prst="rect">
            <a:avLst/>
          </a:prstGeom>
          <a:solidFill>
            <a:srgbClr val="1B7FA6">
              <a:alpha val="15000"/>
            </a:srgbClr>
          </a:solidFill>
          <a:ln/>
        </p:spPr>
      </p:sp>
      <p:sp>
        <p:nvSpPr>
          <p:cNvPr id="9" name="Text 7"/>
          <p:cNvSpPr/>
          <p:nvPr/>
        </p:nvSpPr>
        <p:spPr>
          <a:xfrm>
            <a:off x="4663440" y="1115568"/>
            <a:ext cx="1828800" cy="237744"/>
          </a:xfrm>
          <a:prstGeom prst="rect">
            <a:avLst/>
          </a:prstGeom>
          <a:noFill/>
          <a:ln/>
        </p:spPr>
        <p:txBody>
          <a:bodyPr wrap="square" rtlCol="0" anchor="ctr"/>
          <a:lstStyle/>
          <a:p>
            <a:pPr marL="0" indent="0" algn="ctr">
              <a:buNone/>
            </a:pPr>
            <a:r>
              <a:rPr lang="en-US" sz="900" b="1" dirty="0">
                <a:solidFill>
                  <a:srgbClr val="1B7FA6"/>
                </a:solidFill>
                <a:latin typeface="Calibri" pitchFamily="34" charset="0"/>
                <a:ea typeface="Calibri" pitchFamily="34" charset="-122"/>
                <a:cs typeface="Calibri" pitchFamily="34" charset="-120"/>
              </a:rPr>
              <a:t>Settlement: T+2 days</a:t>
            </a:r>
            <a:endParaRPr lang="en-US" sz="900" dirty="0"/>
          </a:p>
        </p:txBody>
      </p:sp>
      <p:sp>
        <p:nvSpPr>
          <p:cNvPr id="10" name="Shape 8"/>
          <p:cNvSpPr/>
          <p:nvPr/>
        </p:nvSpPr>
        <p:spPr>
          <a:xfrm>
            <a:off x="6629400" y="1115568"/>
            <a:ext cx="2103120" cy="237744"/>
          </a:xfrm>
          <a:prstGeom prst="rect">
            <a:avLst/>
          </a:prstGeom>
          <a:solidFill>
            <a:srgbClr val="1B7FA6">
              <a:alpha val="15000"/>
            </a:srgbClr>
          </a:solidFill>
          <a:ln/>
        </p:spPr>
      </p:sp>
      <p:sp>
        <p:nvSpPr>
          <p:cNvPr id="11" name="Text 9"/>
          <p:cNvSpPr/>
          <p:nvPr/>
        </p:nvSpPr>
        <p:spPr>
          <a:xfrm>
            <a:off x="6629400" y="1115568"/>
            <a:ext cx="2103120" cy="237744"/>
          </a:xfrm>
          <a:prstGeom prst="rect">
            <a:avLst/>
          </a:prstGeom>
          <a:noFill/>
          <a:ln/>
        </p:spPr>
        <p:txBody>
          <a:bodyPr wrap="square" rtlCol="0" anchor="ctr"/>
          <a:lstStyle/>
          <a:p>
            <a:pPr marL="0" indent="0" algn="ctr">
              <a:buNone/>
            </a:pPr>
            <a:r>
              <a:rPr lang="en-US" sz="900" b="1" dirty="0">
                <a:solidFill>
                  <a:srgbClr val="1B7FA6"/>
                </a:solidFill>
                <a:latin typeface="Calibri" pitchFamily="34" charset="0"/>
                <a:ea typeface="Calibri" pitchFamily="34" charset="-122"/>
                <a:cs typeface="Calibri" pitchFamily="34" charset="-120"/>
              </a:rPr>
              <a:t>Users: Importers / Exporters</a:t>
            </a:r>
            <a:endParaRPr lang="en-US" sz="900" dirty="0"/>
          </a:p>
        </p:txBody>
      </p:sp>
      <p:sp>
        <p:nvSpPr>
          <p:cNvPr id="12" name="Shape 10"/>
          <p:cNvSpPr/>
          <p:nvPr/>
        </p:nvSpPr>
        <p:spPr>
          <a:xfrm>
            <a:off x="365760" y="1810512"/>
            <a:ext cx="8412480" cy="713232"/>
          </a:xfrm>
          <a:prstGeom prst="rect">
            <a:avLst/>
          </a:prstGeom>
          <a:solidFill>
            <a:srgbClr val="FFFFFF"/>
          </a:solidFill>
          <a:ln/>
          <a:effectLst>
            <a:outerShdw blurRad="101600" dist="38100" dir="8100000" algn="bl" rotWithShape="0">
              <a:srgbClr val="000000">
                <a:alpha val="18000"/>
              </a:srgbClr>
            </a:outerShdw>
          </a:effectLst>
        </p:spPr>
      </p:sp>
      <p:sp>
        <p:nvSpPr>
          <p:cNvPr id="13" name="Shape 11"/>
          <p:cNvSpPr/>
          <p:nvPr/>
        </p:nvSpPr>
        <p:spPr>
          <a:xfrm>
            <a:off x="365760" y="1810512"/>
            <a:ext cx="91440" cy="713232"/>
          </a:xfrm>
          <a:prstGeom prst="rect">
            <a:avLst/>
          </a:prstGeom>
          <a:solidFill>
            <a:srgbClr val="C9943A"/>
          </a:solidFill>
          <a:ln/>
        </p:spPr>
      </p:sp>
      <p:sp>
        <p:nvSpPr>
          <p:cNvPr id="14" name="Text 12"/>
          <p:cNvSpPr/>
          <p:nvPr/>
        </p:nvSpPr>
        <p:spPr>
          <a:xfrm>
            <a:off x="594360" y="1856232"/>
            <a:ext cx="2377440" cy="347472"/>
          </a:xfrm>
          <a:prstGeom prst="rect">
            <a:avLst/>
          </a:prstGeom>
          <a:noFill/>
          <a:ln/>
        </p:spPr>
        <p:txBody>
          <a:bodyPr wrap="square" lIns="0" tIns="0" rIns="0" bIns="0" rtlCol="0" anchor="ctr"/>
          <a:lstStyle/>
          <a:p>
            <a:pPr marL="0" indent="0">
              <a:buNone/>
            </a:pPr>
            <a:r>
              <a:rPr lang="en-US" sz="1300" b="1" dirty="0">
                <a:solidFill>
                  <a:srgbClr val="0D1F3C"/>
                </a:solidFill>
                <a:latin typeface="Georgia" pitchFamily="34" charset="0"/>
                <a:ea typeface="Georgia" pitchFamily="34" charset="-122"/>
                <a:cs typeface="Georgia" pitchFamily="34" charset="-120"/>
              </a:rPr>
              <a:t>2. Forward Contracts</a:t>
            </a:r>
            <a:endParaRPr lang="en-US" sz="1300" dirty="0"/>
          </a:p>
        </p:txBody>
      </p:sp>
      <p:sp>
        <p:nvSpPr>
          <p:cNvPr id="15" name="Text 13"/>
          <p:cNvSpPr/>
          <p:nvPr/>
        </p:nvSpPr>
        <p:spPr>
          <a:xfrm>
            <a:off x="594360" y="2203704"/>
            <a:ext cx="3840480" cy="27432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Agreement to exchange currency at a future date at a rate locked today — eliminates FX uncertainty.</a:t>
            </a:r>
            <a:endParaRPr lang="en-US" sz="1050" dirty="0"/>
          </a:p>
        </p:txBody>
      </p:sp>
      <p:sp>
        <p:nvSpPr>
          <p:cNvPr id="16" name="Shape 14"/>
          <p:cNvSpPr/>
          <p:nvPr/>
        </p:nvSpPr>
        <p:spPr>
          <a:xfrm>
            <a:off x="4663440" y="1920240"/>
            <a:ext cx="1828800" cy="237744"/>
          </a:xfrm>
          <a:prstGeom prst="rect">
            <a:avLst/>
          </a:prstGeom>
          <a:solidFill>
            <a:srgbClr val="C9943A">
              <a:alpha val="15000"/>
            </a:srgbClr>
          </a:solidFill>
          <a:ln/>
        </p:spPr>
      </p:sp>
      <p:sp>
        <p:nvSpPr>
          <p:cNvPr id="17" name="Text 15"/>
          <p:cNvSpPr/>
          <p:nvPr/>
        </p:nvSpPr>
        <p:spPr>
          <a:xfrm>
            <a:off x="4663440" y="1920240"/>
            <a:ext cx="1828800" cy="237744"/>
          </a:xfrm>
          <a:prstGeom prst="rect">
            <a:avLst/>
          </a:prstGeom>
          <a:noFill/>
          <a:ln/>
        </p:spPr>
        <p:txBody>
          <a:bodyPr wrap="square" rtlCol="0" anchor="ctr"/>
          <a:lstStyle/>
          <a:p>
            <a:pPr marL="0" indent="0" algn="ctr">
              <a:buNone/>
            </a:pPr>
            <a:r>
              <a:rPr lang="en-US" sz="900" b="1" dirty="0">
                <a:solidFill>
                  <a:srgbClr val="C9943A"/>
                </a:solidFill>
                <a:latin typeface="Calibri" pitchFamily="34" charset="0"/>
                <a:ea typeface="Calibri" pitchFamily="34" charset="-122"/>
                <a:cs typeface="Calibri" pitchFamily="34" charset="-120"/>
              </a:rPr>
              <a:t>Settlement: Weeks / Months</a:t>
            </a:r>
            <a:endParaRPr lang="en-US" sz="900" dirty="0"/>
          </a:p>
        </p:txBody>
      </p:sp>
      <p:sp>
        <p:nvSpPr>
          <p:cNvPr id="18" name="Shape 16"/>
          <p:cNvSpPr/>
          <p:nvPr/>
        </p:nvSpPr>
        <p:spPr>
          <a:xfrm>
            <a:off x="6629400" y="1920240"/>
            <a:ext cx="2103120" cy="237744"/>
          </a:xfrm>
          <a:prstGeom prst="rect">
            <a:avLst/>
          </a:prstGeom>
          <a:solidFill>
            <a:srgbClr val="C9943A">
              <a:alpha val="15000"/>
            </a:srgbClr>
          </a:solidFill>
          <a:ln/>
        </p:spPr>
      </p:sp>
      <p:sp>
        <p:nvSpPr>
          <p:cNvPr id="19" name="Text 17"/>
          <p:cNvSpPr/>
          <p:nvPr/>
        </p:nvSpPr>
        <p:spPr>
          <a:xfrm>
            <a:off x="6629400" y="1920240"/>
            <a:ext cx="2103120" cy="237744"/>
          </a:xfrm>
          <a:prstGeom prst="rect">
            <a:avLst/>
          </a:prstGeom>
          <a:noFill/>
          <a:ln/>
        </p:spPr>
        <p:txBody>
          <a:bodyPr wrap="square" rtlCol="0" anchor="ctr"/>
          <a:lstStyle/>
          <a:p>
            <a:pPr marL="0" indent="0" algn="ctr">
              <a:buNone/>
            </a:pPr>
            <a:r>
              <a:rPr lang="en-US" sz="900" b="1" dirty="0">
                <a:solidFill>
                  <a:srgbClr val="C9943A"/>
                </a:solidFill>
                <a:latin typeface="Calibri" pitchFamily="34" charset="0"/>
                <a:ea typeface="Calibri" pitchFamily="34" charset="-122"/>
                <a:cs typeface="Calibri" pitchFamily="34" charset="-120"/>
              </a:rPr>
              <a:t>Users: Corporations, Oil PSUs</a:t>
            </a:r>
            <a:endParaRPr lang="en-US" sz="900" dirty="0"/>
          </a:p>
        </p:txBody>
      </p:sp>
      <p:sp>
        <p:nvSpPr>
          <p:cNvPr id="20" name="Shape 18"/>
          <p:cNvSpPr/>
          <p:nvPr/>
        </p:nvSpPr>
        <p:spPr>
          <a:xfrm>
            <a:off x="365760" y="2615184"/>
            <a:ext cx="8412480" cy="713232"/>
          </a:xfrm>
          <a:prstGeom prst="rect">
            <a:avLst/>
          </a:prstGeom>
          <a:solidFill>
            <a:srgbClr val="FFFFFF"/>
          </a:solidFill>
          <a:ln/>
          <a:effectLst>
            <a:outerShdw blurRad="101600" dist="38100" dir="8100000" algn="bl" rotWithShape="0">
              <a:srgbClr val="000000">
                <a:alpha val="18000"/>
              </a:srgbClr>
            </a:outerShdw>
          </a:effectLst>
        </p:spPr>
      </p:sp>
      <p:sp>
        <p:nvSpPr>
          <p:cNvPr id="21" name="Shape 19"/>
          <p:cNvSpPr/>
          <p:nvPr/>
        </p:nvSpPr>
        <p:spPr>
          <a:xfrm>
            <a:off x="365760" y="2615184"/>
            <a:ext cx="91440" cy="713232"/>
          </a:xfrm>
          <a:prstGeom prst="rect">
            <a:avLst/>
          </a:prstGeom>
          <a:solidFill>
            <a:srgbClr val="0D1F3C"/>
          </a:solidFill>
          <a:ln/>
        </p:spPr>
      </p:sp>
      <p:sp>
        <p:nvSpPr>
          <p:cNvPr id="22" name="Text 20"/>
          <p:cNvSpPr/>
          <p:nvPr/>
        </p:nvSpPr>
        <p:spPr>
          <a:xfrm>
            <a:off x="594360" y="2660904"/>
            <a:ext cx="2377440" cy="347472"/>
          </a:xfrm>
          <a:prstGeom prst="rect">
            <a:avLst/>
          </a:prstGeom>
          <a:noFill/>
          <a:ln/>
        </p:spPr>
        <p:txBody>
          <a:bodyPr wrap="square" lIns="0" tIns="0" rIns="0" bIns="0" rtlCol="0" anchor="ctr"/>
          <a:lstStyle/>
          <a:p>
            <a:pPr marL="0" indent="0">
              <a:buNone/>
            </a:pPr>
            <a:r>
              <a:rPr lang="en-US" sz="1300" b="1" dirty="0">
                <a:solidFill>
                  <a:srgbClr val="0D1F3C"/>
                </a:solidFill>
                <a:latin typeface="Georgia" pitchFamily="34" charset="0"/>
                <a:ea typeface="Georgia" pitchFamily="34" charset="-122"/>
                <a:cs typeface="Georgia" pitchFamily="34" charset="-120"/>
              </a:rPr>
              <a:t>3. Currency Futures</a:t>
            </a:r>
            <a:endParaRPr lang="en-US" sz="1300" dirty="0"/>
          </a:p>
        </p:txBody>
      </p:sp>
      <p:sp>
        <p:nvSpPr>
          <p:cNvPr id="23" name="Text 21"/>
          <p:cNvSpPr/>
          <p:nvPr/>
        </p:nvSpPr>
        <p:spPr>
          <a:xfrm>
            <a:off x="594360" y="3008376"/>
            <a:ext cx="3840480" cy="27432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Standardised forward contracts traded on exchange (NSE/BSE) for speculation &amp; hedging.</a:t>
            </a:r>
            <a:endParaRPr lang="en-US" sz="1050" dirty="0"/>
          </a:p>
        </p:txBody>
      </p:sp>
      <p:sp>
        <p:nvSpPr>
          <p:cNvPr id="24" name="Shape 22"/>
          <p:cNvSpPr/>
          <p:nvPr/>
        </p:nvSpPr>
        <p:spPr>
          <a:xfrm>
            <a:off x="4663440" y="2724912"/>
            <a:ext cx="1828800" cy="237744"/>
          </a:xfrm>
          <a:prstGeom prst="rect">
            <a:avLst/>
          </a:prstGeom>
          <a:solidFill>
            <a:srgbClr val="0D1F3C">
              <a:alpha val="15000"/>
            </a:srgbClr>
          </a:solidFill>
          <a:ln/>
        </p:spPr>
      </p:sp>
      <p:sp>
        <p:nvSpPr>
          <p:cNvPr id="25" name="Text 23"/>
          <p:cNvSpPr/>
          <p:nvPr/>
        </p:nvSpPr>
        <p:spPr>
          <a:xfrm>
            <a:off x="4663440" y="2724912"/>
            <a:ext cx="1828800" cy="237744"/>
          </a:xfrm>
          <a:prstGeom prst="rect">
            <a:avLst/>
          </a:prstGeom>
          <a:noFill/>
          <a:ln/>
        </p:spPr>
        <p:txBody>
          <a:bodyPr wrap="square" rtlCol="0" anchor="ctr"/>
          <a:lstStyle/>
          <a:p>
            <a:pPr marL="0" indent="0" algn="ctr">
              <a:buNone/>
            </a:pPr>
            <a:r>
              <a:rPr lang="en-US" sz="900" b="1" dirty="0">
                <a:solidFill>
                  <a:srgbClr val="0D1F3C"/>
                </a:solidFill>
                <a:latin typeface="Calibri" pitchFamily="34" charset="0"/>
                <a:ea typeface="Calibri" pitchFamily="34" charset="-122"/>
                <a:cs typeface="Calibri" pitchFamily="34" charset="-120"/>
              </a:rPr>
              <a:t>Settlement: Last Thursday of expiry</a:t>
            </a:r>
            <a:endParaRPr lang="en-US" sz="900" dirty="0"/>
          </a:p>
        </p:txBody>
      </p:sp>
      <p:sp>
        <p:nvSpPr>
          <p:cNvPr id="26" name="Shape 24"/>
          <p:cNvSpPr/>
          <p:nvPr/>
        </p:nvSpPr>
        <p:spPr>
          <a:xfrm>
            <a:off x="6629400" y="2724912"/>
            <a:ext cx="2103120" cy="237744"/>
          </a:xfrm>
          <a:prstGeom prst="rect">
            <a:avLst/>
          </a:prstGeom>
          <a:solidFill>
            <a:srgbClr val="0D1F3C">
              <a:alpha val="15000"/>
            </a:srgbClr>
          </a:solidFill>
          <a:ln/>
        </p:spPr>
      </p:sp>
      <p:sp>
        <p:nvSpPr>
          <p:cNvPr id="27" name="Text 25"/>
          <p:cNvSpPr/>
          <p:nvPr/>
        </p:nvSpPr>
        <p:spPr>
          <a:xfrm>
            <a:off x="6629400" y="2724912"/>
            <a:ext cx="2103120" cy="237744"/>
          </a:xfrm>
          <a:prstGeom prst="rect">
            <a:avLst/>
          </a:prstGeom>
          <a:noFill/>
          <a:ln/>
        </p:spPr>
        <p:txBody>
          <a:bodyPr wrap="square" rtlCol="0" anchor="ctr"/>
          <a:lstStyle/>
          <a:p>
            <a:pPr marL="0" indent="0" algn="ctr">
              <a:buNone/>
            </a:pPr>
            <a:r>
              <a:rPr lang="en-US" sz="900" b="1" dirty="0">
                <a:solidFill>
                  <a:srgbClr val="0D1F3C"/>
                </a:solidFill>
                <a:latin typeface="Calibri" pitchFamily="34" charset="0"/>
                <a:ea typeface="Calibri" pitchFamily="34" charset="-122"/>
                <a:cs typeface="Calibri" pitchFamily="34" charset="-120"/>
              </a:rPr>
              <a:t>Users: Speculators &amp; Hedgers</a:t>
            </a:r>
            <a:endParaRPr lang="en-US" sz="900" dirty="0"/>
          </a:p>
        </p:txBody>
      </p:sp>
      <p:sp>
        <p:nvSpPr>
          <p:cNvPr id="28" name="Shape 26"/>
          <p:cNvSpPr/>
          <p:nvPr/>
        </p:nvSpPr>
        <p:spPr>
          <a:xfrm>
            <a:off x="365760" y="3419856"/>
            <a:ext cx="8412480" cy="713232"/>
          </a:xfrm>
          <a:prstGeom prst="rect">
            <a:avLst/>
          </a:prstGeom>
          <a:solidFill>
            <a:srgbClr val="FFFFFF"/>
          </a:solidFill>
          <a:ln/>
          <a:effectLst>
            <a:outerShdw blurRad="101600" dist="38100" dir="8100000" algn="bl" rotWithShape="0">
              <a:srgbClr val="000000">
                <a:alpha val="18000"/>
              </a:srgbClr>
            </a:outerShdw>
          </a:effectLst>
        </p:spPr>
      </p:sp>
      <p:sp>
        <p:nvSpPr>
          <p:cNvPr id="29" name="Shape 27"/>
          <p:cNvSpPr/>
          <p:nvPr/>
        </p:nvSpPr>
        <p:spPr>
          <a:xfrm>
            <a:off x="365760" y="3419856"/>
            <a:ext cx="91440" cy="713232"/>
          </a:xfrm>
          <a:prstGeom prst="rect">
            <a:avLst/>
          </a:prstGeom>
          <a:solidFill>
            <a:srgbClr val="1A8754"/>
          </a:solidFill>
          <a:ln/>
        </p:spPr>
      </p:sp>
      <p:sp>
        <p:nvSpPr>
          <p:cNvPr id="30" name="Text 28"/>
          <p:cNvSpPr/>
          <p:nvPr/>
        </p:nvSpPr>
        <p:spPr>
          <a:xfrm>
            <a:off x="594360" y="3465576"/>
            <a:ext cx="2377440" cy="347472"/>
          </a:xfrm>
          <a:prstGeom prst="rect">
            <a:avLst/>
          </a:prstGeom>
          <a:noFill/>
          <a:ln/>
        </p:spPr>
        <p:txBody>
          <a:bodyPr wrap="square" lIns="0" tIns="0" rIns="0" bIns="0" rtlCol="0" anchor="ctr"/>
          <a:lstStyle/>
          <a:p>
            <a:pPr marL="0" indent="0">
              <a:buNone/>
            </a:pPr>
            <a:r>
              <a:rPr lang="en-US" sz="1300" b="1" dirty="0">
                <a:solidFill>
                  <a:srgbClr val="0D1F3C"/>
                </a:solidFill>
                <a:latin typeface="Georgia" pitchFamily="34" charset="0"/>
                <a:ea typeface="Georgia" pitchFamily="34" charset="-122"/>
                <a:cs typeface="Georgia" pitchFamily="34" charset="-120"/>
              </a:rPr>
              <a:t>4. Currency Options</a:t>
            </a:r>
            <a:endParaRPr lang="en-US" sz="1300" dirty="0"/>
          </a:p>
        </p:txBody>
      </p:sp>
      <p:sp>
        <p:nvSpPr>
          <p:cNvPr id="31" name="Text 29"/>
          <p:cNvSpPr/>
          <p:nvPr/>
        </p:nvSpPr>
        <p:spPr>
          <a:xfrm>
            <a:off x="594360" y="3813048"/>
            <a:ext cx="3840480" cy="27432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Right (not obligation) to buy/sell currency at a predetermined rate. Combines protection with flexibility.</a:t>
            </a:r>
            <a:endParaRPr lang="en-US" sz="1050" dirty="0"/>
          </a:p>
        </p:txBody>
      </p:sp>
      <p:sp>
        <p:nvSpPr>
          <p:cNvPr id="32" name="Shape 30"/>
          <p:cNvSpPr/>
          <p:nvPr/>
        </p:nvSpPr>
        <p:spPr>
          <a:xfrm>
            <a:off x="4663440" y="3529584"/>
            <a:ext cx="1828800" cy="237744"/>
          </a:xfrm>
          <a:prstGeom prst="rect">
            <a:avLst/>
          </a:prstGeom>
          <a:solidFill>
            <a:srgbClr val="1A8754">
              <a:alpha val="15000"/>
            </a:srgbClr>
          </a:solidFill>
          <a:ln/>
        </p:spPr>
      </p:sp>
      <p:sp>
        <p:nvSpPr>
          <p:cNvPr id="33" name="Text 31"/>
          <p:cNvSpPr/>
          <p:nvPr/>
        </p:nvSpPr>
        <p:spPr>
          <a:xfrm>
            <a:off x="4663440" y="3529584"/>
            <a:ext cx="1828800" cy="237744"/>
          </a:xfrm>
          <a:prstGeom prst="rect">
            <a:avLst/>
          </a:prstGeom>
          <a:noFill/>
          <a:ln/>
        </p:spPr>
        <p:txBody>
          <a:bodyPr wrap="square" rtlCol="0" anchor="ctr"/>
          <a:lstStyle/>
          <a:p>
            <a:pPr marL="0" indent="0" algn="ctr">
              <a:buNone/>
            </a:pPr>
            <a:r>
              <a:rPr lang="en-US" sz="900" b="1" dirty="0">
                <a:solidFill>
                  <a:srgbClr val="1A8754"/>
                </a:solidFill>
                <a:latin typeface="Calibri" pitchFamily="34" charset="0"/>
                <a:ea typeface="Calibri" pitchFamily="34" charset="-122"/>
                <a:cs typeface="Calibri" pitchFamily="34" charset="-120"/>
              </a:rPr>
              <a:t>Settlement: Exercise date</a:t>
            </a:r>
            <a:endParaRPr lang="en-US" sz="900" dirty="0"/>
          </a:p>
        </p:txBody>
      </p:sp>
      <p:sp>
        <p:nvSpPr>
          <p:cNvPr id="34" name="Shape 32"/>
          <p:cNvSpPr/>
          <p:nvPr/>
        </p:nvSpPr>
        <p:spPr>
          <a:xfrm>
            <a:off x="6629400" y="3529584"/>
            <a:ext cx="2103120" cy="237744"/>
          </a:xfrm>
          <a:prstGeom prst="rect">
            <a:avLst/>
          </a:prstGeom>
          <a:solidFill>
            <a:srgbClr val="1A8754">
              <a:alpha val="15000"/>
            </a:srgbClr>
          </a:solidFill>
          <a:ln/>
        </p:spPr>
      </p:sp>
      <p:sp>
        <p:nvSpPr>
          <p:cNvPr id="35" name="Text 33"/>
          <p:cNvSpPr/>
          <p:nvPr/>
        </p:nvSpPr>
        <p:spPr>
          <a:xfrm>
            <a:off x="6629400" y="3529584"/>
            <a:ext cx="2103120" cy="237744"/>
          </a:xfrm>
          <a:prstGeom prst="rect">
            <a:avLst/>
          </a:prstGeom>
          <a:noFill/>
          <a:ln/>
        </p:spPr>
        <p:txBody>
          <a:bodyPr wrap="square" rtlCol="0" anchor="ctr"/>
          <a:lstStyle/>
          <a:p>
            <a:pPr marL="0" indent="0" algn="ctr">
              <a:buNone/>
            </a:pPr>
            <a:r>
              <a:rPr lang="en-US" sz="900" b="1" dirty="0">
                <a:solidFill>
                  <a:srgbClr val="1A8754"/>
                </a:solidFill>
                <a:latin typeface="Calibri" pitchFamily="34" charset="0"/>
                <a:ea typeface="Calibri" pitchFamily="34" charset="-122"/>
                <a:cs typeface="Calibri" pitchFamily="34" charset="-120"/>
              </a:rPr>
              <a:t>Users: Exporters, Treasuries</a:t>
            </a:r>
            <a:endParaRPr lang="en-US" sz="900" dirty="0"/>
          </a:p>
        </p:txBody>
      </p:sp>
      <p:sp>
        <p:nvSpPr>
          <p:cNvPr id="36" name="Shape 34"/>
          <p:cNvSpPr/>
          <p:nvPr/>
        </p:nvSpPr>
        <p:spPr>
          <a:xfrm>
            <a:off x="365760" y="4224528"/>
            <a:ext cx="8412480" cy="713232"/>
          </a:xfrm>
          <a:prstGeom prst="rect">
            <a:avLst/>
          </a:prstGeom>
          <a:solidFill>
            <a:srgbClr val="FFFFFF"/>
          </a:solidFill>
          <a:ln/>
          <a:effectLst>
            <a:outerShdw blurRad="101600" dist="38100" dir="8100000" algn="bl" rotWithShape="0">
              <a:srgbClr val="000000">
                <a:alpha val="18000"/>
              </a:srgbClr>
            </a:outerShdw>
          </a:effectLst>
        </p:spPr>
      </p:sp>
      <p:sp>
        <p:nvSpPr>
          <p:cNvPr id="37" name="Shape 35"/>
          <p:cNvSpPr/>
          <p:nvPr/>
        </p:nvSpPr>
        <p:spPr>
          <a:xfrm>
            <a:off x="365760" y="4224528"/>
            <a:ext cx="91440" cy="713232"/>
          </a:xfrm>
          <a:prstGeom prst="rect">
            <a:avLst/>
          </a:prstGeom>
          <a:solidFill>
            <a:srgbClr val="C0392B"/>
          </a:solidFill>
          <a:ln/>
        </p:spPr>
      </p:sp>
      <p:sp>
        <p:nvSpPr>
          <p:cNvPr id="38" name="Text 36"/>
          <p:cNvSpPr/>
          <p:nvPr/>
        </p:nvSpPr>
        <p:spPr>
          <a:xfrm>
            <a:off x="594360" y="4270248"/>
            <a:ext cx="2377440" cy="347472"/>
          </a:xfrm>
          <a:prstGeom prst="rect">
            <a:avLst/>
          </a:prstGeom>
          <a:noFill/>
          <a:ln/>
        </p:spPr>
        <p:txBody>
          <a:bodyPr wrap="square" lIns="0" tIns="0" rIns="0" bIns="0" rtlCol="0" anchor="ctr"/>
          <a:lstStyle/>
          <a:p>
            <a:pPr marL="0" indent="0">
              <a:buNone/>
            </a:pPr>
            <a:r>
              <a:rPr lang="en-US" sz="1300" b="1" dirty="0">
                <a:solidFill>
                  <a:srgbClr val="0D1F3C"/>
                </a:solidFill>
                <a:latin typeface="Georgia" pitchFamily="34" charset="0"/>
                <a:ea typeface="Georgia" pitchFamily="34" charset="-122"/>
                <a:cs typeface="Georgia" pitchFamily="34" charset="-120"/>
              </a:rPr>
              <a:t>5. Currency Swaps</a:t>
            </a:r>
            <a:endParaRPr lang="en-US" sz="1300" dirty="0"/>
          </a:p>
        </p:txBody>
      </p:sp>
      <p:sp>
        <p:nvSpPr>
          <p:cNvPr id="39" name="Text 37"/>
          <p:cNvSpPr/>
          <p:nvPr/>
        </p:nvSpPr>
        <p:spPr>
          <a:xfrm>
            <a:off x="594360" y="4617720"/>
            <a:ext cx="3840480" cy="27432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Simultaneous buy &amp; sell of same currency for different maturities — for long-term FX exposure management.</a:t>
            </a:r>
            <a:endParaRPr lang="en-US" sz="1050" dirty="0"/>
          </a:p>
        </p:txBody>
      </p:sp>
      <p:sp>
        <p:nvSpPr>
          <p:cNvPr id="40" name="Shape 38"/>
          <p:cNvSpPr/>
          <p:nvPr/>
        </p:nvSpPr>
        <p:spPr>
          <a:xfrm>
            <a:off x="4663440" y="4334256"/>
            <a:ext cx="1828800" cy="237744"/>
          </a:xfrm>
          <a:prstGeom prst="rect">
            <a:avLst/>
          </a:prstGeom>
          <a:solidFill>
            <a:srgbClr val="C0392B">
              <a:alpha val="15000"/>
            </a:srgbClr>
          </a:solidFill>
          <a:ln/>
        </p:spPr>
      </p:sp>
      <p:sp>
        <p:nvSpPr>
          <p:cNvPr id="41" name="Text 39"/>
          <p:cNvSpPr/>
          <p:nvPr/>
        </p:nvSpPr>
        <p:spPr>
          <a:xfrm>
            <a:off x="4663440" y="4334256"/>
            <a:ext cx="1828800" cy="237744"/>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Settlement: As per agreement</a:t>
            </a:r>
            <a:endParaRPr lang="en-US" sz="900" dirty="0"/>
          </a:p>
        </p:txBody>
      </p:sp>
      <p:sp>
        <p:nvSpPr>
          <p:cNvPr id="42" name="Shape 40"/>
          <p:cNvSpPr/>
          <p:nvPr/>
        </p:nvSpPr>
        <p:spPr>
          <a:xfrm>
            <a:off x="6629400" y="4334256"/>
            <a:ext cx="2103120" cy="237744"/>
          </a:xfrm>
          <a:prstGeom prst="rect">
            <a:avLst/>
          </a:prstGeom>
          <a:solidFill>
            <a:srgbClr val="C0392B">
              <a:alpha val="15000"/>
            </a:srgbClr>
          </a:solidFill>
          <a:ln/>
        </p:spPr>
      </p:sp>
      <p:sp>
        <p:nvSpPr>
          <p:cNvPr id="43" name="Text 41"/>
          <p:cNvSpPr/>
          <p:nvPr/>
        </p:nvSpPr>
        <p:spPr>
          <a:xfrm>
            <a:off x="6629400" y="4334256"/>
            <a:ext cx="2103120" cy="237744"/>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Users: MNCs &amp; Banks</a:t>
            </a:r>
            <a:endParaRPr lang="en-US" sz="900" dirty="0"/>
          </a:p>
        </p:txBody>
      </p:sp>
      <p:sp>
        <p:nvSpPr>
          <p:cNvPr id="44" name="Text 42"/>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9943A"/>
          </a:solidFill>
          <a:ln/>
        </p:spPr>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300" b="1" kern="0" spc="400" dirty="0">
                <a:solidFill>
                  <a:srgbClr val="E8B455"/>
                </a:solidFill>
                <a:latin typeface="Calibri" pitchFamily="34" charset="0"/>
                <a:ea typeface="Calibri" pitchFamily="34" charset="-122"/>
                <a:cs typeface="Calibri" pitchFamily="34" charset="-120"/>
              </a:rPr>
              <a:t>SECTION 03</a:t>
            </a:r>
            <a:endParaRPr lang="en-US" sz="1300" dirty="0"/>
          </a:p>
        </p:txBody>
      </p:sp>
      <p:sp>
        <p:nvSpPr>
          <p:cNvPr id="4" name="Text 2"/>
          <p:cNvSpPr/>
          <p:nvPr/>
        </p:nvSpPr>
        <p:spPr>
          <a:xfrm>
            <a:off x="457200" y="1508760"/>
            <a:ext cx="8229600" cy="164592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Crude Oil–Forex</a:t>
            </a:r>
            <a:endParaRPr lang="en-US" sz="4400" dirty="0"/>
          </a:p>
          <a:p>
            <a:pPr marL="0" indent="0">
              <a:buNone/>
            </a:pPr>
            <a:r>
              <a:rPr lang="en-US" sz="4400" b="1" dirty="0">
                <a:solidFill>
                  <a:srgbClr val="FFFFFF"/>
                </a:solidFill>
                <a:latin typeface="Georgia" pitchFamily="34" charset="0"/>
                <a:ea typeface="Georgia" pitchFamily="34" charset="-122"/>
                <a:cs typeface="Georgia" pitchFamily="34" charset="-120"/>
              </a:rPr>
              <a:t>Nexus</a:t>
            </a:r>
            <a:endParaRPr lang="en-US" sz="4400" dirty="0"/>
          </a:p>
        </p:txBody>
      </p:sp>
      <p:sp>
        <p:nvSpPr>
          <p:cNvPr id="5" name="Text 3"/>
          <p:cNvSpPr/>
          <p:nvPr/>
        </p:nvSpPr>
        <p:spPr>
          <a:xfrm>
            <a:off x="457200" y="3246120"/>
            <a:ext cx="8229600" cy="548640"/>
          </a:xfrm>
          <a:prstGeom prst="rect">
            <a:avLst/>
          </a:prstGeom>
          <a:noFill/>
          <a:ln/>
        </p:spPr>
        <p:txBody>
          <a:bodyPr wrap="square" rtlCol="0" anchor="ctr"/>
          <a:lstStyle/>
          <a:p>
            <a:pPr marL="0" indent="0">
              <a:buNone/>
            </a:pPr>
            <a:r>
              <a:rPr lang="en-US" sz="1600" i="1" dirty="0">
                <a:solidFill>
                  <a:srgbClr val="8FA3B1"/>
                </a:solidFill>
                <a:latin typeface="Calibri" pitchFamily="34" charset="0"/>
                <a:ea typeface="Calibri" pitchFamily="34" charset="-122"/>
                <a:cs typeface="Calibri" pitchFamily="34" charset="-120"/>
              </a:rPr>
              <a:t>Petrodollar • INR Impact • Hedging Strategies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Petrodollar System</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Text 2"/>
          <p:cNvSpPr/>
          <p:nvPr/>
        </p:nvSpPr>
        <p:spPr>
          <a:xfrm>
            <a:off x="457200" y="868680"/>
            <a:ext cx="8229600" cy="384048"/>
          </a:xfrm>
          <a:prstGeom prst="rect">
            <a:avLst/>
          </a:prstGeom>
          <a:noFill/>
          <a:ln/>
        </p:spPr>
        <p:txBody>
          <a:bodyPr wrap="square" rtlCol="0" anchor="ctr"/>
          <a:lstStyle/>
          <a:p>
            <a:pPr marL="0" indent="0">
              <a:buNone/>
            </a:pPr>
            <a:r>
              <a:rPr lang="en-US" sz="1150" i="1" dirty="0">
                <a:solidFill>
                  <a:srgbClr val="8FA3B1"/>
                </a:solidFill>
                <a:latin typeface="Calibri" pitchFamily="34" charset="0"/>
                <a:ea typeface="Calibri" pitchFamily="34" charset="-122"/>
                <a:cs typeface="Calibri" pitchFamily="34" charset="-120"/>
              </a:rPr>
              <a:t>Since 1973, global crude oil is priced and traded exclusively in US Dollars — creating a permanent structural link between oil and forex markets.</a:t>
            </a:r>
            <a:endParaRPr lang="en-US" sz="1150" dirty="0"/>
          </a:p>
        </p:txBody>
      </p:sp>
      <p:sp>
        <p:nvSpPr>
          <p:cNvPr id="5" name="Shape 3"/>
          <p:cNvSpPr/>
          <p:nvPr/>
        </p:nvSpPr>
        <p:spPr>
          <a:xfrm>
            <a:off x="365760" y="1371600"/>
            <a:ext cx="1965960" cy="1280160"/>
          </a:xfrm>
          <a:prstGeom prst="rect">
            <a:avLst/>
          </a:prstGeom>
          <a:solidFill>
            <a:srgbClr val="132952"/>
          </a:solidFill>
          <a:ln/>
          <a:effectLst>
            <a:outerShdw blurRad="101600" dist="38100" dir="8100000" algn="bl" rotWithShape="0">
              <a:srgbClr val="000000">
                <a:alpha val="18000"/>
              </a:srgbClr>
            </a:outerShdw>
          </a:effectLst>
        </p:spPr>
      </p:sp>
      <p:sp>
        <p:nvSpPr>
          <p:cNvPr id="6" name="Shape 4"/>
          <p:cNvSpPr/>
          <p:nvPr/>
        </p:nvSpPr>
        <p:spPr>
          <a:xfrm>
            <a:off x="365760" y="1371600"/>
            <a:ext cx="1965960" cy="64008"/>
          </a:xfrm>
          <a:prstGeom prst="rect">
            <a:avLst/>
          </a:prstGeom>
          <a:solidFill>
            <a:srgbClr val="C9943A"/>
          </a:solidFill>
          <a:ln/>
        </p:spPr>
      </p:sp>
      <p:sp>
        <p:nvSpPr>
          <p:cNvPr id="7" name="Text 5"/>
          <p:cNvSpPr/>
          <p:nvPr/>
        </p:nvSpPr>
        <p:spPr>
          <a:xfrm>
            <a:off x="457200" y="1463040"/>
            <a:ext cx="1783080" cy="594360"/>
          </a:xfrm>
          <a:prstGeom prst="rect">
            <a:avLst/>
          </a:prstGeom>
          <a:noFill/>
          <a:ln/>
        </p:spPr>
        <p:txBody>
          <a:bodyPr wrap="square" lIns="0" tIns="0" rIns="0" bIns="0" rtlCol="0" anchor="ctr"/>
          <a:lstStyle/>
          <a:p>
            <a:pPr marL="0" indent="0" algn="ctr">
              <a:buNone/>
            </a:pPr>
            <a:r>
              <a:rPr lang="en-US" sz="1300" b="1" dirty="0">
                <a:solidFill>
                  <a:srgbClr val="E8B455"/>
                </a:solidFill>
                <a:latin typeface="Georgia" pitchFamily="34" charset="0"/>
                <a:ea typeface="Georgia" pitchFamily="34" charset="-122"/>
                <a:cs typeface="Georgia" pitchFamily="34" charset="-120"/>
              </a:rPr>
              <a:t>Country</a:t>
            </a:r>
            <a:endParaRPr lang="en-US" sz="1300" dirty="0"/>
          </a:p>
          <a:p>
            <a:pPr marL="0" indent="0" algn="ctr">
              <a:buNone/>
            </a:pPr>
            <a:r>
              <a:rPr lang="en-US" sz="1300" b="1" dirty="0">
                <a:solidFill>
                  <a:srgbClr val="E8B455"/>
                </a:solidFill>
                <a:latin typeface="Georgia" pitchFamily="34" charset="0"/>
                <a:ea typeface="Georgia" pitchFamily="34" charset="-122"/>
                <a:cs typeface="Georgia" pitchFamily="34" charset="-120"/>
              </a:rPr>
              <a:t>Needs Oil</a:t>
            </a:r>
            <a:endParaRPr lang="en-US" sz="1300" dirty="0"/>
          </a:p>
        </p:txBody>
      </p:sp>
      <p:sp>
        <p:nvSpPr>
          <p:cNvPr id="8" name="Text 6"/>
          <p:cNvSpPr/>
          <p:nvPr/>
        </p:nvSpPr>
        <p:spPr>
          <a:xfrm>
            <a:off x="457200" y="2084832"/>
            <a:ext cx="1783080" cy="521208"/>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Demands crude</a:t>
            </a:r>
            <a:endParaRPr lang="en-US" sz="1000" dirty="0"/>
          </a:p>
          <a:p>
            <a:pPr marL="0" indent="0" algn="ctr">
              <a:buNone/>
            </a:pPr>
            <a:r>
              <a:rPr lang="en-US" sz="1000" dirty="0">
                <a:solidFill>
                  <a:srgbClr val="8FA3B1"/>
                </a:solidFill>
                <a:latin typeface="Calibri" pitchFamily="34" charset="0"/>
                <a:ea typeface="Calibri" pitchFamily="34" charset="-122"/>
                <a:cs typeface="Calibri" pitchFamily="34" charset="-120"/>
              </a:rPr>
              <a:t>from oil exporters</a:t>
            </a:r>
            <a:endParaRPr lang="en-US" sz="1000" dirty="0"/>
          </a:p>
        </p:txBody>
      </p:sp>
      <p:sp>
        <p:nvSpPr>
          <p:cNvPr id="9" name="Shape 7"/>
          <p:cNvSpPr/>
          <p:nvPr/>
        </p:nvSpPr>
        <p:spPr>
          <a:xfrm>
            <a:off x="2377440" y="2011680"/>
            <a:ext cx="182880" cy="0"/>
          </a:xfrm>
          <a:prstGeom prst="line">
            <a:avLst/>
          </a:prstGeom>
          <a:noFill/>
          <a:ln w="25400">
            <a:solidFill>
              <a:srgbClr val="C9943A"/>
            </a:solidFill>
            <a:prstDash val="solid"/>
          </a:ln>
        </p:spPr>
      </p:sp>
      <p:sp>
        <p:nvSpPr>
          <p:cNvPr id="10" name="Shape 8"/>
          <p:cNvSpPr/>
          <p:nvPr/>
        </p:nvSpPr>
        <p:spPr>
          <a:xfrm>
            <a:off x="2560320" y="1371600"/>
            <a:ext cx="1965960" cy="1280160"/>
          </a:xfrm>
          <a:prstGeom prst="rect">
            <a:avLst/>
          </a:prstGeom>
          <a:solidFill>
            <a:srgbClr val="132952"/>
          </a:solidFill>
          <a:ln/>
          <a:effectLst>
            <a:outerShdw blurRad="101600" dist="38100" dir="8100000" algn="bl" rotWithShape="0">
              <a:srgbClr val="000000">
                <a:alpha val="18000"/>
              </a:srgbClr>
            </a:outerShdw>
          </a:effectLst>
        </p:spPr>
      </p:sp>
      <p:sp>
        <p:nvSpPr>
          <p:cNvPr id="11" name="Shape 9"/>
          <p:cNvSpPr/>
          <p:nvPr/>
        </p:nvSpPr>
        <p:spPr>
          <a:xfrm>
            <a:off x="2560320" y="1371600"/>
            <a:ext cx="1965960" cy="64008"/>
          </a:xfrm>
          <a:prstGeom prst="rect">
            <a:avLst/>
          </a:prstGeom>
          <a:solidFill>
            <a:srgbClr val="C9943A"/>
          </a:solidFill>
          <a:ln/>
        </p:spPr>
      </p:sp>
      <p:sp>
        <p:nvSpPr>
          <p:cNvPr id="12" name="Text 10"/>
          <p:cNvSpPr/>
          <p:nvPr/>
        </p:nvSpPr>
        <p:spPr>
          <a:xfrm>
            <a:off x="2651760" y="1463040"/>
            <a:ext cx="1783080" cy="594360"/>
          </a:xfrm>
          <a:prstGeom prst="rect">
            <a:avLst/>
          </a:prstGeom>
          <a:noFill/>
          <a:ln/>
        </p:spPr>
        <p:txBody>
          <a:bodyPr wrap="square" lIns="0" tIns="0" rIns="0" bIns="0" rtlCol="0" anchor="ctr"/>
          <a:lstStyle/>
          <a:p>
            <a:pPr marL="0" indent="0" algn="ctr">
              <a:buNone/>
            </a:pPr>
            <a:r>
              <a:rPr lang="en-US" sz="1300" b="1" dirty="0">
                <a:solidFill>
                  <a:srgbClr val="E8B455"/>
                </a:solidFill>
                <a:latin typeface="Georgia" pitchFamily="34" charset="0"/>
                <a:ea typeface="Georgia" pitchFamily="34" charset="-122"/>
                <a:cs typeface="Georgia" pitchFamily="34" charset="-120"/>
              </a:rPr>
              <a:t>Buys USD in</a:t>
            </a:r>
            <a:endParaRPr lang="en-US" sz="1300" dirty="0"/>
          </a:p>
          <a:p>
            <a:pPr marL="0" indent="0" algn="ctr">
              <a:buNone/>
            </a:pPr>
            <a:r>
              <a:rPr lang="en-US" sz="1300" b="1" dirty="0">
                <a:solidFill>
                  <a:srgbClr val="E8B455"/>
                </a:solidFill>
                <a:latin typeface="Georgia" pitchFamily="34" charset="0"/>
                <a:ea typeface="Georgia" pitchFamily="34" charset="-122"/>
                <a:cs typeface="Georgia" pitchFamily="34" charset="-120"/>
              </a:rPr>
              <a:t>Forex Market</a:t>
            </a:r>
            <a:endParaRPr lang="en-US" sz="1300" dirty="0"/>
          </a:p>
        </p:txBody>
      </p:sp>
      <p:sp>
        <p:nvSpPr>
          <p:cNvPr id="13" name="Text 11"/>
          <p:cNvSpPr/>
          <p:nvPr/>
        </p:nvSpPr>
        <p:spPr>
          <a:xfrm>
            <a:off x="2651760" y="2084832"/>
            <a:ext cx="1783080" cy="521208"/>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Sells domestic</a:t>
            </a:r>
            <a:endParaRPr lang="en-US" sz="1000" dirty="0"/>
          </a:p>
          <a:p>
            <a:pPr marL="0" indent="0" algn="ctr">
              <a:buNone/>
            </a:pPr>
            <a:r>
              <a:rPr lang="en-US" sz="1000" dirty="0">
                <a:solidFill>
                  <a:srgbClr val="8FA3B1"/>
                </a:solidFill>
                <a:latin typeface="Calibri" pitchFamily="34" charset="0"/>
                <a:ea typeface="Calibri" pitchFamily="34" charset="-122"/>
                <a:cs typeface="Calibri" pitchFamily="34" charset="-120"/>
              </a:rPr>
              <a:t>currency for USD</a:t>
            </a:r>
            <a:endParaRPr lang="en-US" sz="1000" dirty="0"/>
          </a:p>
        </p:txBody>
      </p:sp>
      <p:sp>
        <p:nvSpPr>
          <p:cNvPr id="14" name="Shape 12"/>
          <p:cNvSpPr/>
          <p:nvPr/>
        </p:nvSpPr>
        <p:spPr>
          <a:xfrm>
            <a:off x="4572000" y="2011680"/>
            <a:ext cx="182880" cy="0"/>
          </a:xfrm>
          <a:prstGeom prst="line">
            <a:avLst/>
          </a:prstGeom>
          <a:noFill/>
          <a:ln w="25400">
            <a:solidFill>
              <a:srgbClr val="C9943A"/>
            </a:solidFill>
            <a:prstDash val="solid"/>
          </a:ln>
        </p:spPr>
      </p:sp>
      <p:sp>
        <p:nvSpPr>
          <p:cNvPr id="15" name="Shape 13"/>
          <p:cNvSpPr/>
          <p:nvPr/>
        </p:nvSpPr>
        <p:spPr>
          <a:xfrm>
            <a:off x="4754880" y="1371600"/>
            <a:ext cx="1965960" cy="1280160"/>
          </a:xfrm>
          <a:prstGeom prst="rect">
            <a:avLst/>
          </a:prstGeom>
          <a:solidFill>
            <a:srgbClr val="132952"/>
          </a:solidFill>
          <a:ln/>
          <a:effectLst>
            <a:outerShdw blurRad="101600" dist="38100" dir="8100000" algn="bl" rotWithShape="0">
              <a:srgbClr val="000000">
                <a:alpha val="18000"/>
              </a:srgbClr>
            </a:outerShdw>
          </a:effectLst>
        </p:spPr>
      </p:sp>
      <p:sp>
        <p:nvSpPr>
          <p:cNvPr id="16" name="Shape 14"/>
          <p:cNvSpPr/>
          <p:nvPr/>
        </p:nvSpPr>
        <p:spPr>
          <a:xfrm>
            <a:off x="4754880" y="1371600"/>
            <a:ext cx="1965960" cy="64008"/>
          </a:xfrm>
          <a:prstGeom prst="rect">
            <a:avLst/>
          </a:prstGeom>
          <a:solidFill>
            <a:srgbClr val="C9943A"/>
          </a:solidFill>
          <a:ln/>
        </p:spPr>
      </p:sp>
      <p:sp>
        <p:nvSpPr>
          <p:cNvPr id="17" name="Text 15"/>
          <p:cNvSpPr/>
          <p:nvPr/>
        </p:nvSpPr>
        <p:spPr>
          <a:xfrm>
            <a:off x="4846320" y="1463040"/>
            <a:ext cx="1783080" cy="594360"/>
          </a:xfrm>
          <a:prstGeom prst="rect">
            <a:avLst/>
          </a:prstGeom>
          <a:noFill/>
          <a:ln/>
        </p:spPr>
        <p:txBody>
          <a:bodyPr wrap="square" lIns="0" tIns="0" rIns="0" bIns="0" rtlCol="0" anchor="ctr"/>
          <a:lstStyle/>
          <a:p>
            <a:pPr marL="0" indent="0" algn="ctr">
              <a:buNone/>
            </a:pPr>
            <a:r>
              <a:rPr lang="en-US" sz="1300" b="1" dirty="0">
                <a:solidFill>
                  <a:srgbClr val="E8B455"/>
                </a:solidFill>
                <a:latin typeface="Georgia" pitchFamily="34" charset="0"/>
                <a:ea typeface="Georgia" pitchFamily="34" charset="-122"/>
                <a:cs typeface="Georgia" pitchFamily="34" charset="-120"/>
              </a:rPr>
              <a:t>Pays Oil Exporter</a:t>
            </a:r>
            <a:endParaRPr lang="en-US" sz="1300" dirty="0"/>
          </a:p>
          <a:p>
            <a:pPr marL="0" indent="0" algn="ctr">
              <a:buNone/>
            </a:pPr>
            <a:r>
              <a:rPr lang="en-US" sz="1300" b="1" dirty="0">
                <a:solidFill>
                  <a:srgbClr val="E8B455"/>
                </a:solidFill>
                <a:latin typeface="Georgia" pitchFamily="34" charset="0"/>
                <a:ea typeface="Georgia" pitchFamily="34" charset="-122"/>
                <a:cs typeface="Georgia" pitchFamily="34" charset="-120"/>
              </a:rPr>
              <a:t>in USD</a:t>
            </a:r>
            <a:endParaRPr lang="en-US" sz="1300" dirty="0"/>
          </a:p>
        </p:txBody>
      </p:sp>
      <p:sp>
        <p:nvSpPr>
          <p:cNvPr id="18" name="Text 16"/>
          <p:cNvSpPr/>
          <p:nvPr/>
        </p:nvSpPr>
        <p:spPr>
          <a:xfrm>
            <a:off x="4846320" y="2084832"/>
            <a:ext cx="1783080" cy="521208"/>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e.g. Saudi Aramco</a:t>
            </a:r>
            <a:endParaRPr lang="en-US" sz="1000" dirty="0"/>
          </a:p>
          <a:p>
            <a:pPr marL="0" indent="0" algn="ctr">
              <a:buNone/>
            </a:pPr>
            <a:r>
              <a:rPr lang="en-US" sz="1000" dirty="0">
                <a:solidFill>
                  <a:srgbClr val="8FA3B1"/>
                </a:solidFill>
                <a:latin typeface="Calibri" pitchFamily="34" charset="0"/>
                <a:ea typeface="Calibri" pitchFamily="34" charset="-122"/>
                <a:cs typeface="Calibri" pitchFamily="34" charset="-120"/>
              </a:rPr>
              <a:t>receives USD</a:t>
            </a:r>
            <a:endParaRPr lang="en-US" sz="1000" dirty="0"/>
          </a:p>
        </p:txBody>
      </p:sp>
      <p:sp>
        <p:nvSpPr>
          <p:cNvPr id="19" name="Shape 17"/>
          <p:cNvSpPr/>
          <p:nvPr/>
        </p:nvSpPr>
        <p:spPr>
          <a:xfrm>
            <a:off x="6766560" y="2011680"/>
            <a:ext cx="182880" cy="0"/>
          </a:xfrm>
          <a:prstGeom prst="line">
            <a:avLst/>
          </a:prstGeom>
          <a:noFill/>
          <a:ln w="25400">
            <a:solidFill>
              <a:srgbClr val="C9943A"/>
            </a:solidFill>
            <a:prstDash val="solid"/>
          </a:ln>
        </p:spPr>
      </p:sp>
      <p:sp>
        <p:nvSpPr>
          <p:cNvPr id="20" name="Shape 18"/>
          <p:cNvSpPr/>
          <p:nvPr/>
        </p:nvSpPr>
        <p:spPr>
          <a:xfrm>
            <a:off x="6949440" y="1371600"/>
            <a:ext cx="1965960" cy="1280160"/>
          </a:xfrm>
          <a:prstGeom prst="rect">
            <a:avLst/>
          </a:prstGeom>
          <a:solidFill>
            <a:srgbClr val="132952"/>
          </a:solidFill>
          <a:ln/>
          <a:effectLst>
            <a:outerShdw blurRad="101600" dist="38100" dir="8100000" algn="bl" rotWithShape="0">
              <a:srgbClr val="000000">
                <a:alpha val="18000"/>
              </a:srgbClr>
            </a:outerShdw>
          </a:effectLst>
        </p:spPr>
      </p:sp>
      <p:sp>
        <p:nvSpPr>
          <p:cNvPr id="21" name="Shape 19"/>
          <p:cNvSpPr/>
          <p:nvPr/>
        </p:nvSpPr>
        <p:spPr>
          <a:xfrm>
            <a:off x="6949440" y="1371600"/>
            <a:ext cx="1965960" cy="64008"/>
          </a:xfrm>
          <a:prstGeom prst="rect">
            <a:avLst/>
          </a:prstGeom>
          <a:solidFill>
            <a:srgbClr val="C9943A"/>
          </a:solidFill>
          <a:ln/>
        </p:spPr>
      </p:sp>
      <p:sp>
        <p:nvSpPr>
          <p:cNvPr id="22" name="Text 20"/>
          <p:cNvSpPr/>
          <p:nvPr/>
        </p:nvSpPr>
        <p:spPr>
          <a:xfrm>
            <a:off x="7040880" y="1463040"/>
            <a:ext cx="1783080" cy="594360"/>
          </a:xfrm>
          <a:prstGeom prst="rect">
            <a:avLst/>
          </a:prstGeom>
          <a:noFill/>
          <a:ln/>
        </p:spPr>
        <p:txBody>
          <a:bodyPr wrap="square" lIns="0" tIns="0" rIns="0" bIns="0" rtlCol="0" anchor="ctr"/>
          <a:lstStyle/>
          <a:p>
            <a:pPr marL="0" indent="0" algn="ctr">
              <a:buNone/>
            </a:pPr>
            <a:r>
              <a:rPr lang="en-US" sz="1300" b="1" dirty="0">
                <a:solidFill>
                  <a:srgbClr val="E8B455"/>
                </a:solidFill>
                <a:latin typeface="Georgia" pitchFamily="34" charset="0"/>
                <a:ea typeface="Georgia" pitchFamily="34" charset="-122"/>
                <a:cs typeface="Georgia" pitchFamily="34" charset="-120"/>
              </a:rPr>
              <a:t>Exporter Invests</a:t>
            </a:r>
            <a:endParaRPr lang="en-US" sz="1300" dirty="0"/>
          </a:p>
          <a:p>
            <a:pPr marL="0" indent="0" algn="ctr">
              <a:buNone/>
            </a:pPr>
            <a:r>
              <a:rPr lang="en-US" sz="1300" b="1" dirty="0">
                <a:solidFill>
                  <a:srgbClr val="E8B455"/>
                </a:solidFill>
                <a:latin typeface="Georgia" pitchFamily="34" charset="0"/>
                <a:ea typeface="Georgia" pitchFamily="34" charset="-122"/>
                <a:cs typeface="Georgia" pitchFamily="34" charset="-120"/>
              </a:rPr>
              <a:t>USD Surplus</a:t>
            </a:r>
            <a:endParaRPr lang="en-US" sz="1300" dirty="0"/>
          </a:p>
        </p:txBody>
      </p:sp>
      <p:sp>
        <p:nvSpPr>
          <p:cNvPr id="23" name="Text 21"/>
          <p:cNvSpPr/>
          <p:nvPr/>
        </p:nvSpPr>
        <p:spPr>
          <a:xfrm>
            <a:off x="7040880" y="2084832"/>
            <a:ext cx="1783080" cy="521208"/>
          </a:xfrm>
          <a:prstGeom prst="rect">
            <a:avLst/>
          </a:prstGeom>
          <a:noFill/>
          <a:ln/>
        </p:spPr>
        <p:txBody>
          <a:bodyPr wrap="square" rtlCol="0" anchor="ctr"/>
          <a:lstStyle/>
          <a:p>
            <a:pPr marL="0" indent="0" algn="ctr">
              <a:buNone/>
            </a:pPr>
            <a:r>
              <a:rPr lang="en-US" sz="1000" dirty="0">
                <a:solidFill>
                  <a:srgbClr val="8FA3B1"/>
                </a:solidFill>
                <a:latin typeface="Calibri" pitchFamily="34" charset="0"/>
                <a:ea typeface="Calibri" pitchFamily="34" charset="-122"/>
                <a:cs typeface="Calibri" pitchFamily="34" charset="-120"/>
              </a:rPr>
              <a:t>In US Treasuries</a:t>
            </a:r>
            <a:endParaRPr lang="en-US" sz="1000" dirty="0"/>
          </a:p>
          <a:p>
            <a:pPr marL="0" indent="0" algn="ctr">
              <a:buNone/>
            </a:pPr>
            <a:r>
              <a:rPr lang="en-US" sz="1000" dirty="0">
                <a:solidFill>
                  <a:srgbClr val="8FA3B1"/>
                </a:solidFill>
                <a:latin typeface="Calibri" pitchFamily="34" charset="0"/>
                <a:ea typeface="Calibri" pitchFamily="34" charset="-122"/>
                <a:cs typeface="Calibri" pitchFamily="34" charset="-120"/>
              </a:rPr>
              <a:t>&amp; USD assets</a:t>
            </a:r>
            <a:endParaRPr lang="en-US" sz="1000" dirty="0"/>
          </a:p>
        </p:txBody>
      </p:sp>
      <p:sp>
        <p:nvSpPr>
          <p:cNvPr id="24" name="Text 22"/>
          <p:cNvSpPr/>
          <p:nvPr/>
        </p:nvSpPr>
        <p:spPr>
          <a:xfrm>
            <a:off x="457200" y="2788920"/>
            <a:ext cx="8229600" cy="384048"/>
          </a:xfrm>
          <a:prstGeom prst="rect">
            <a:avLst/>
          </a:prstGeom>
          <a:noFill/>
          <a:ln/>
        </p:spPr>
        <p:txBody>
          <a:bodyPr wrap="square" rtlCol="0" anchor="ctr"/>
          <a:lstStyle/>
          <a:p>
            <a:pPr marL="0" indent="0">
              <a:buNone/>
            </a:pPr>
            <a:r>
              <a:rPr lang="en-US" sz="1600" b="1" dirty="0">
                <a:solidFill>
                  <a:srgbClr val="E8B455"/>
                </a:solidFill>
                <a:latin typeface="Georgia" pitchFamily="34" charset="0"/>
                <a:ea typeface="Georgia" pitchFamily="34" charset="-122"/>
                <a:cs typeface="Georgia" pitchFamily="34" charset="-120"/>
              </a:rPr>
              <a:t>Implications for India</a:t>
            </a:r>
            <a:endParaRPr lang="en-US" sz="1600" dirty="0"/>
          </a:p>
        </p:txBody>
      </p:sp>
      <p:sp>
        <p:nvSpPr>
          <p:cNvPr id="25" name="Shape 23"/>
          <p:cNvSpPr/>
          <p:nvPr/>
        </p:nvSpPr>
        <p:spPr>
          <a:xfrm>
            <a:off x="365760" y="3291840"/>
            <a:ext cx="4114800" cy="502920"/>
          </a:xfrm>
          <a:prstGeom prst="rect">
            <a:avLst/>
          </a:prstGeom>
          <a:solidFill>
            <a:srgbClr val="132952"/>
          </a:solidFill>
          <a:ln/>
        </p:spPr>
      </p:sp>
      <p:sp>
        <p:nvSpPr>
          <p:cNvPr id="26" name="Text 24"/>
          <p:cNvSpPr/>
          <p:nvPr/>
        </p:nvSpPr>
        <p:spPr>
          <a:xfrm>
            <a:off x="457200" y="3319272"/>
            <a:ext cx="411480" cy="41148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914400" y="3319272"/>
            <a:ext cx="347472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India must earn or buy USD to pay for crude oil — creating chronic structural demand for USD</a:t>
            </a:r>
            <a:endParaRPr lang="en-US" sz="1050" dirty="0"/>
          </a:p>
        </p:txBody>
      </p:sp>
      <p:sp>
        <p:nvSpPr>
          <p:cNvPr id="28" name="Shape 26"/>
          <p:cNvSpPr/>
          <p:nvPr/>
        </p:nvSpPr>
        <p:spPr>
          <a:xfrm>
            <a:off x="4663440" y="3291840"/>
            <a:ext cx="4114800" cy="502920"/>
          </a:xfrm>
          <a:prstGeom prst="rect">
            <a:avLst/>
          </a:prstGeom>
          <a:solidFill>
            <a:srgbClr val="132952"/>
          </a:solidFill>
          <a:ln/>
        </p:spPr>
      </p:sp>
      <p:sp>
        <p:nvSpPr>
          <p:cNvPr id="29" name="Text 27"/>
          <p:cNvSpPr/>
          <p:nvPr/>
        </p:nvSpPr>
        <p:spPr>
          <a:xfrm>
            <a:off x="4754880" y="3319272"/>
            <a:ext cx="411480" cy="41148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5212080" y="3319272"/>
            <a:ext cx="347472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Rising oil prices → higher USD demand → INR weakens (depreciates against USD)</a:t>
            </a:r>
            <a:endParaRPr lang="en-US" sz="1050" dirty="0"/>
          </a:p>
        </p:txBody>
      </p:sp>
      <p:sp>
        <p:nvSpPr>
          <p:cNvPr id="31" name="Shape 29"/>
          <p:cNvSpPr/>
          <p:nvPr/>
        </p:nvSpPr>
        <p:spPr>
          <a:xfrm>
            <a:off x="365760" y="3886200"/>
            <a:ext cx="4114800" cy="502920"/>
          </a:xfrm>
          <a:prstGeom prst="rect">
            <a:avLst/>
          </a:prstGeom>
          <a:solidFill>
            <a:srgbClr val="132952"/>
          </a:solidFill>
          <a:ln/>
        </p:spPr>
      </p:sp>
      <p:sp>
        <p:nvSpPr>
          <p:cNvPr id="32" name="Text 30"/>
          <p:cNvSpPr/>
          <p:nvPr/>
        </p:nvSpPr>
        <p:spPr>
          <a:xfrm>
            <a:off x="457200" y="3913632"/>
            <a:ext cx="411480" cy="41148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914400" y="3913632"/>
            <a:ext cx="347472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India's forex reserves act as a buffer to manage sudden oil payment shocks</a:t>
            </a:r>
            <a:endParaRPr lang="en-US" sz="1050" dirty="0"/>
          </a:p>
        </p:txBody>
      </p:sp>
      <p:sp>
        <p:nvSpPr>
          <p:cNvPr id="34" name="Shape 32"/>
          <p:cNvSpPr/>
          <p:nvPr/>
        </p:nvSpPr>
        <p:spPr>
          <a:xfrm>
            <a:off x="4663440" y="3886200"/>
            <a:ext cx="4114800" cy="502920"/>
          </a:xfrm>
          <a:prstGeom prst="rect">
            <a:avLst/>
          </a:prstGeom>
          <a:solidFill>
            <a:srgbClr val="132952"/>
          </a:solidFill>
          <a:ln/>
        </p:spPr>
      </p:sp>
      <p:sp>
        <p:nvSpPr>
          <p:cNvPr id="35" name="Text 33"/>
          <p:cNvSpPr/>
          <p:nvPr/>
        </p:nvSpPr>
        <p:spPr>
          <a:xfrm>
            <a:off x="4754880" y="3913632"/>
            <a:ext cx="411480" cy="41148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6" name="Text 34"/>
          <p:cNvSpPr/>
          <p:nvPr/>
        </p:nvSpPr>
        <p:spPr>
          <a:xfrm>
            <a:off x="5212080" y="3913632"/>
            <a:ext cx="347472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India–Russia trade in INR/Ruble: an attempt to reduce petrodollar dependency</a:t>
            </a:r>
            <a:endParaRPr lang="en-US" sz="1050" dirty="0"/>
          </a:p>
        </p:txBody>
      </p:sp>
      <p:sp>
        <p:nvSpPr>
          <p:cNvPr id="37" name="Text 35"/>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How Oil Prices Move Exchange Rates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4023360" cy="3703320"/>
          </a:xfrm>
          <a:prstGeom prst="rect">
            <a:avLst/>
          </a:prstGeom>
          <a:solidFill>
            <a:srgbClr val="0D1F3C"/>
          </a:solidFill>
          <a:ln/>
          <a:effectLst>
            <a:outerShdw blurRad="101600" dist="38100" dir="8100000" algn="bl" rotWithShape="0">
              <a:srgbClr val="000000">
                <a:alpha val="18000"/>
              </a:srgbClr>
            </a:outerShdw>
          </a:effectLst>
        </p:spPr>
      </p:sp>
      <p:sp>
        <p:nvSpPr>
          <p:cNvPr id="5" name="Shape 3"/>
          <p:cNvSpPr/>
          <p:nvPr/>
        </p:nvSpPr>
        <p:spPr>
          <a:xfrm>
            <a:off x="365760" y="1005840"/>
            <a:ext cx="4023360" cy="64008"/>
          </a:xfrm>
          <a:prstGeom prst="rect">
            <a:avLst/>
          </a:prstGeom>
          <a:solidFill>
            <a:srgbClr val="C0392B"/>
          </a:solidFill>
          <a:ln/>
        </p:spPr>
      </p:sp>
      <p:sp>
        <p:nvSpPr>
          <p:cNvPr id="6" name="Text 4"/>
          <p:cNvSpPr/>
          <p:nvPr/>
        </p:nvSpPr>
        <p:spPr>
          <a:xfrm>
            <a:off x="502920" y="1097280"/>
            <a:ext cx="3749040" cy="438912"/>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 Rising Oil Prices</a:t>
            </a:r>
            <a:endParaRPr lang="en-US" sz="1700" dirty="0"/>
          </a:p>
        </p:txBody>
      </p:sp>
      <p:sp>
        <p:nvSpPr>
          <p:cNvPr id="7" name="Text 5"/>
          <p:cNvSpPr/>
          <p:nvPr/>
        </p:nvSpPr>
        <p:spPr>
          <a:xfrm>
            <a:off x="502920" y="1554480"/>
            <a:ext cx="3749040" cy="292608"/>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Impact on OIL-IMPORTING Nations (India, Japan, EU)</a:t>
            </a:r>
            <a:endParaRPr lang="en-US" sz="1000" dirty="0"/>
          </a:p>
        </p:txBody>
      </p:sp>
      <p:sp>
        <p:nvSpPr>
          <p:cNvPr id="8" name="Text 6"/>
          <p:cNvSpPr/>
          <p:nvPr/>
        </p:nvSpPr>
        <p:spPr>
          <a:xfrm>
            <a:off x="502920" y="1920240"/>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Oil prices surge → import bill rises</a:t>
            </a:r>
            <a:endParaRPr lang="en-US" sz="1100" dirty="0"/>
          </a:p>
        </p:txBody>
      </p:sp>
      <p:sp>
        <p:nvSpPr>
          <p:cNvPr id="9" name="Text 7"/>
          <p:cNvSpPr/>
          <p:nvPr/>
        </p:nvSpPr>
        <p:spPr>
          <a:xfrm>
            <a:off x="502920" y="2359152"/>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Importer buys more USD to pay oil bill</a:t>
            </a:r>
            <a:endParaRPr lang="en-US" sz="1100" dirty="0"/>
          </a:p>
        </p:txBody>
      </p:sp>
      <p:sp>
        <p:nvSpPr>
          <p:cNvPr id="10" name="Text 8"/>
          <p:cNvSpPr/>
          <p:nvPr/>
        </p:nvSpPr>
        <p:spPr>
          <a:xfrm>
            <a:off x="502920" y="2798064"/>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Domestic currency (INR) weakens vs USD</a:t>
            </a:r>
            <a:endParaRPr lang="en-US" sz="1100" dirty="0"/>
          </a:p>
        </p:txBody>
      </p:sp>
      <p:sp>
        <p:nvSpPr>
          <p:cNvPr id="11" name="Text 9"/>
          <p:cNvSpPr/>
          <p:nvPr/>
        </p:nvSpPr>
        <p:spPr>
          <a:xfrm>
            <a:off x="502920" y="3236976"/>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Imported goods costlier → imported inflation</a:t>
            </a:r>
            <a:endParaRPr lang="en-US" sz="1100" dirty="0"/>
          </a:p>
        </p:txBody>
      </p:sp>
      <p:sp>
        <p:nvSpPr>
          <p:cNvPr id="12" name="Text 10"/>
          <p:cNvSpPr/>
          <p:nvPr/>
        </p:nvSpPr>
        <p:spPr>
          <a:xfrm>
            <a:off x="502920" y="3675888"/>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Current Account Deficit (CAD) widens</a:t>
            </a:r>
            <a:endParaRPr lang="en-US" sz="1100" dirty="0"/>
          </a:p>
        </p:txBody>
      </p:sp>
      <p:sp>
        <p:nvSpPr>
          <p:cNvPr id="13" name="Text 11"/>
          <p:cNvSpPr/>
          <p:nvPr/>
        </p:nvSpPr>
        <p:spPr>
          <a:xfrm>
            <a:off x="502920" y="4114800"/>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RBI may hike rates or sell USD to defend INR</a:t>
            </a:r>
            <a:endParaRPr lang="en-US" sz="1100" dirty="0"/>
          </a:p>
        </p:txBody>
      </p:sp>
      <p:sp>
        <p:nvSpPr>
          <p:cNvPr id="14" name="Shape 12"/>
          <p:cNvSpPr/>
          <p:nvPr/>
        </p:nvSpPr>
        <p:spPr>
          <a:xfrm>
            <a:off x="4754880" y="1005840"/>
            <a:ext cx="4023360" cy="3703320"/>
          </a:xfrm>
          <a:prstGeom prst="rect">
            <a:avLst/>
          </a:prstGeom>
          <a:solidFill>
            <a:srgbClr val="132952"/>
          </a:solidFill>
          <a:ln/>
          <a:effectLst>
            <a:outerShdw blurRad="101600" dist="38100" dir="8100000" algn="bl" rotWithShape="0">
              <a:srgbClr val="000000">
                <a:alpha val="18000"/>
              </a:srgbClr>
            </a:outerShdw>
          </a:effectLst>
        </p:spPr>
      </p:sp>
      <p:sp>
        <p:nvSpPr>
          <p:cNvPr id="15" name="Shape 13"/>
          <p:cNvSpPr/>
          <p:nvPr/>
        </p:nvSpPr>
        <p:spPr>
          <a:xfrm>
            <a:off x="4754880" y="1005840"/>
            <a:ext cx="4023360" cy="64008"/>
          </a:xfrm>
          <a:prstGeom prst="rect">
            <a:avLst/>
          </a:prstGeom>
          <a:solidFill>
            <a:srgbClr val="1A8754"/>
          </a:solidFill>
          <a:ln/>
        </p:spPr>
      </p:sp>
      <p:sp>
        <p:nvSpPr>
          <p:cNvPr id="16" name="Text 14"/>
          <p:cNvSpPr/>
          <p:nvPr/>
        </p:nvSpPr>
        <p:spPr>
          <a:xfrm>
            <a:off x="4892040" y="1097280"/>
            <a:ext cx="3749040" cy="438912"/>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 Falling Oil Prices</a:t>
            </a:r>
            <a:endParaRPr lang="en-US" sz="1700" dirty="0"/>
          </a:p>
        </p:txBody>
      </p:sp>
      <p:sp>
        <p:nvSpPr>
          <p:cNvPr id="17" name="Text 15"/>
          <p:cNvSpPr/>
          <p:nvPr/>
        </p:nvSpPr>
        <p:spPr>
          <a:xfrm>
            <a:off x="4892040" y="1554480"/>
            <a:ext cx="3749040" cy="292608"/>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Impact on OIL-EXPORTING Nations (Saudi, Russia, UAE)</a:t>
            </a:r>
            <a:endParaRPr lang="en-US" sz="1000" dirty="0"/>
          </a:p>
        </p:txBody>
      </p:sp>
      <p:sp>
        <p:nvSpPr>
          <p:cNvPr id="18" name="Text 16"/>
          <p:cNvSpPr/>
          <p:nvPr/>
        </p:nvSpPr>
        <p:spPr>
          <a:xfrm>
            <a:off x="4892040" y="1920240"/>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Oil revenue declines for exporters</a:t>
            </a:r>
            <a:endParaRPr lang="en-US" sz="1100" dirty="0"/>
          </a:p>
        </p:txBody>
      </p:sp>
      <p:sp>
        <p:nvSpPr>
          <p:cNvPr id="19" name="Text 17"/>
          <p:cNvSpPr/>
          <p:nvPr/>
        </p:nvSpPr>
        <p:spPr>
          <a:xfrm>
            <a:off x="4892040" y="2359152"/>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Fewer USD petrodollar inflows</a:t>
            </a:r>
            <a:endParaRPr lang="en-US" sz="1100" dirty="0"/>
          </a:p>
        </p:txBody>
      </p:sp>
      <p:sp>
        <p:nvSpPr>
          <p:cNvPr id="20" name="Text 18"/>
          <p:cNvSpPr/>
          <p:nvPr/>
        </p:nvSpPr>
        <p:spPr>
          <a:xfrm>
            <a:off x="4892040" y="2798064"/>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Exporter currency (Ruble, Riyal) weakens</a:t>
            </a:r>
            <a:endParaRPr lang="en-US" sz="1100" dirty="0"/>
          </a:p>
        </p:txBody>
      </p:sp>
      <p:sp>
        <p:nvSpPr>
          <p:cNvPr id="21" name="Text 19"/>
          <p:cNvSpPr/>
          <p:nvPr/>
        </p:nvSpPr>
        <p:spPr>
          <a:xfrm>
            <a:off x="4892040" y="3236976"/>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Sovereign wealth funds may be drawn down</a:t>
            </a:r>
            <a:endParaRPr lang="en-US" sz="1100" dirty="0"/>
          </a:p>
        </p:txBody>
      </p:sp>
      <p:sp>
        <p:nvSpPr>
          <p:cNvPr id="22" name="Text 20"/>
          <p:cNvSpPr/>
          <p:nvPr/>
        </p:nvSpPr>
        <p:spPr>
          <a:xfrm>
            <a:off x="4892040" y="3675888"/>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Government budget deficits widen</a:t>
            </a:r>
            <a:endParaRPr lang="en-US" sz="1100" dirty="0"/>
          </a:p>
        </p:txBody>
      </p:sp>
      <p:sp>
        <p:nvSpPr>
          <p:cNvPr id="23" name="Text 21"/>
          <p:cNvSpPr/>
          <p:nvPr/>
        </p:nvSpPr>
        <p:spPr>
          <a:xfrm>
            <a:off x="4892040" y="4114800"/>
            <a:ext cx="374904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Equities &amp; bonds in petrostates fall</a:t>
            </a:r>
            <a:endParaRPr lang="en-US" sz="1100" dirty="0"/>
          </a:p>
        </p:txBody>
      </p:sp>
      <p:sp>
        <p:nvSpPr>
          <p:cNvPr id="24" name="Text 22"/>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India's Crude Oil Landscape &amp; INR Vulnerability</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1920240" cy="1371600"/>
          </a:xfrm>
          <a:prstGeom prst="rect">
            <a:avLst/>
          </a:prstGeom>
          <a:solidFill>
            <a:srgbClr val="0D1F3C"/>
          </a:solidFill>
          <a:ln/>
          <a:effectLst>
            <a:outerShdw blurRad="101600" dist="38100" dir="8100000" algn="bl" rotWithShape="0">
              <a:srgbClr val="000000">
                <a:alpha val="18000"/>
              </a:srgbClr>
            </a:outerShdw>
          </a:effectLst>
        </p:spPr>
      </p:sp>
      <p:sp>
        <p:nvSpPr>
          <p:cNvPr id="5" name="Text 3"/>
          <p:cNvSpPr/>
          <p:nvPr/>
        </p:nvSpPr>
        <p:spPr>
          <a:xfrm>
            <a:off x="457200" y="1097280"/>
            <a:ext cx="1737360" cy="754380"/>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85%+</a:t>
            </a:r>
            <a:endParaRPr lang="en-US" sz="2800" dirty="0"/>
          </a:p>
        </p:txBody>
      </p:sp>
      <p:sp>
        <p:nvSpPr>
          <p:cNvPr id="6" name="Text 4"/>
          <p:cNvSpPr/>
          <p:nvPr/>
        </p:nvSpPr>
        <p:spPr>
          <a:xfrm>
            <a:off x="457200" y="1760220"/>
            <a:ext cx="1737360" cy="5760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Import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Dependence</a:t>
            </a:r>
            <a:endParaRPr lang="en-US" sz="1000" dirty="0"/>
          </a:p>
        </p:txBody>
      </p:sp>
      <p:sp>
        <p:nvSpPr>
          <p:cNvPr id="7" name="Shape 5"/>
          <p:cNvSpPr/>
          <p:nvPr/>
        </p:nvSpPr>
        <p:spPr>
          <a:xfrm>
            <a:off x="2514600" y="1005840"/>
            <a:ext cx="1920240" cy="1371600"/>
          </a:xfrm>
          <a:prstGeom prst="rect">
            <a:avLst/>
          </a:prstGeom>
          <a:solidFill>
            <a:srgbClr val="1B7FA6"/>
          </a:solidFill>
          <a:ln/>
          <a:effectLst>
            <a:outerShdw blurRad="101600" dist="38100" dir="8100000" algn="bl" rotWithShape="0">
              <a:srgbClr val="000000">
                <a:alpha val="18000"/>
              </a:srgbClr>
            </a:outerShdw>
          </a:effectLst>
        </p:spPr>
      </p:sp>
      <p:sp>
        <p:nvSpPr>
          <p:cNvPr id="8" name="Text 6"/>
          <p:cNvSpPr/>
          <p:nvPr/>
        </p:nvSpPr>
        <p:spPr>
          <a:xfrm>
            <a:off x="2606040" y="1097280"/>
            <a:ext cx="1737360" cy="754380"/>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#3</a:t>
            </a:r>
            <a:endParaRPr lang="en-US" sz="2800" dirty="0"/>
          </a:p>
        </p:txBody>
      </p:sp>
      <p:sp>
        <p:nvSpPr>
          <p:cNvPr id="9" name="Text 7"/>
          <p:cNvSpPr/>
          <p:nvPr/>
        </p:nvSpPr>
        <p:spPr>
          <a:xfrm>
            <a:off x="2606040" y="1760220"/>
            <a:ext cx="1737360" cy="5760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World's 3rd Largest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Consumer</a:t>
            </a:r>
            <a:endParaRPr lang="en-US" sz="1000" dirty="0"/>
          </a:p>
        </p:txBody>
      </p:sp>
      <p:sp>
        <p:nvSpPr>
          <p:cNvPr id="10" name="Shape 8"/>
          <p:cNvSpPr/>
          <p:nvPr/>
        </p:nvSpPr>
        <p:spPr>
          <a:xfrm>
            <a:off x="4663440" y="1005840"/>
            <a:ext cx="1920240" cy="1371600"/>
          </a:xfrm>
          <a:prstGeom prst="rect">
            <a:avLst/>
          </a:prstGeom>
          <a:solidFill>
            <a:srgbClr val="0D1F3C"/>
          </a:solidFill>
          <a:ln/>
          <a:effectLst>
            <a:outerShdw blurRad="101600" dist="38100" dir="8100000" algn="bl" rotWithShape="0">
              <a:srgbClr val="000000">
                <a:alpha val="18000"/>
              </a:srgbClr>
            </a:outerShdw>
          </a:effectLst>
        </p:spPr>
      </p:sp>
      <p:sp>
        <p:nvSpPr>
          <p:cNvPr id="11" name="Text 9"/>
          <p:cNvSpPr/>
          <p:nvPr/>
        </p:nvSpPr>
        <p:spPr>
          <a:xfrm>
            <a:off x="4754880" y="1097280"/>
            <a:ext cx="1737360" cy="754380"/>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$140B+</a:t>
            </a:r>
            <a:endParaRPr lang="en-US" sz="2800" dirty="0"/>
          </a:p>
        </p:txBody>
      </p:sp>
      <p:sp>
        <p:nvSpPr>
          <p:cNvPr id="12" name="Text 10"/>
          <p:cNvSpPr/>
          <p:nvPr/>
        </p:nvSpPr>
        <p:spPr>
          <a:xfrm>
            <a:off x="4754880" y="1760220"/>
            <a:ext cx="1737360" cy="5760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Annual Crude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Bill (USD)</a:t>
            </a:r>
            <a:endParaRPr lang="en-US" sz="1000" dirty="0"/>
          </a:p>
        </p:txBody>
      </p:sp>
      <p:sp>
        <p:nvSpPr>
          <p:cNvPr id="13" name="Shape 11"/>
          <p:cNvSpPr/>
          <p:nvPr/>
        </p:nvSpPr>
        <p:spPr>
          <a:xfrm>
            <a:off x="6812280" y="1005840"/>
            <a:ext cx="1920240" cy="1371600"/>
          </a:xfrm>
          <a:prstGeom prst="rect">
            <a:avLst/>
          </a:prstGeom>
          <a:solidFill>
            <a:srgbClr val="1B7FA6"/>
          </a:solidFill>
          <a:ln/>
          <a:effectLst>
            <a:outerShdw blurRad="101600" dist="38100" dir="8100000" algn="bl" rotWithShape="0">
              <a:srgbClr val="000000">
                <a:alpha val="18000"/>
              </a:srgbClr>
            </a:outerShdw>
          </a:effectLst>
        </p:spPr>
      </p:sp>
      <p:sp>
        <p:nvSpPr>
          <p:cNvPr id="14" name="Text 12"/>
          <p:cNvSpPr/>
          <p:nvPr/>
        </p:nvSpPr>
        <p:spPr>
          <a:xfrm>
            <a:off x="6903720" y="1097280"/>
            <a:ext cx="1737360" cy="754380"/>
          </a:xfrm>
          <a:prstGeom prst="rect">
            <a:avLst/>
          </a:prstGeom>
          <a:noFill/>
          <a:ln/>
        </p:spPr>
        <p:txBody>
          <a:bodyPr wrap="square" rtlCol="0" anchor="ctr"/>
          <a:lstStyle/>
          <a:p>
            <a:pPr marL="0" indent="0" algn="ctr">
              <a:buNone/>
            </a:pPr>
            <a:r>
              <a:rPr lang="en-US" sz="2800" b="1" dirty="0">
                <a:solidFill>
                  <a:srgbClr val="E8B455"/>
                </a:solidFill>
                <a:latin typeface="Georgia" pitchFamily="34" charset="0"/>
                <a:ea typeface="Georgia" pitchFamily="34" charset="-122"/>
                <a:cs typeface="Georgia" pitchFamily="34" charset="-120"/>
              </a:rPr>
              <a:t>Russia</a:t>
            </a:r>
            <a:endParaRPr lang="en-US" sz="2800" dirty="0"/>
          </a:p>
        </p:txBody>
      </p:sp>
      <p:sp>
        <p:nvSpPr>
          <p:cNvPr id="15" name="Text 13"/>
          <p:cNvSpPr/>
          <p:nvPr/>
        </p:nvSpPr>
        <p:spPr>
          <a:xfrm>
            <a:off x="6903720" y="1760220"/>
            <a:ext cx="1737360" cy="5760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Top Supplier</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(2024)</a:t>
            </a:r>
            <a:endParaRPr lang="en-US" sz="1000" dirty="0"/>
          </a:p>
        </p:txBody>
      </p:sp>
      <p:sp>
        <p:nvSpPr>
          <p:cNvPr id="16" name="Text 14"/>
          <p:cNvSpPr/>
          <p:nvPr/>
        </p:nvSpPr>
        <p:spPr>
          <a:xfrm>
            <a:off x="365760" y="2542032"/>
            <a:ext cx="5120640" cy="347472"/>
          </a:xfrm>
          <a:prstGeom prst="rect">
            <a:avLst/>
          </a:prstGeom>
          <a:noFill/>
          <a:ln/>
        </p:spPr>
        <p:txBody>
          <a:bodyPr wrap="square"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Key Indian Institutions in the Crude Oil Sector</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2944368"/>
          <a:ext cx="5029200" cy="1737360"/>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Institution</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F3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F3C"/>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ONGC</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Exploration &amp; production of domestic crude oil</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Indian Oil Corporation (IOC)</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Refining, marketing &amp; pipeline management</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Bharat Petroleum (BPCL)</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Refining &amp; retail petroleum products</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PPAC</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Monitors oil prices, imports &amp; subsidies</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Shape 15"/>
          <p:cNvSpPr/>
          <p:nvPr/>
        </p:nvSpPr>
        <p:spPr>
          <a:xfrm>
            <a:off x="5669280" y="2542032"/>
            <a:ext cx="3108960" cy="2194560"/>
          </a:xfrm>
          <a:prstGeom prst="rect">
            <a:avLst/>
          </a:prstGeom>
          <a:solidFill>
            <a:srgbClr val="0D1F3C"/>
          </a:solidFill>
          <a:ln/>
          <a:effectLst>
            <a:outerShdw blurRad="101600" dist="38100" dir="8100000" algn="bl" rotWithShape="0">
              <a:srgbClr val="000000">
                <a:alpha val="18000"/>
              </a:srgbClr>
            </a:outerShdw>
          </a:effectLst>
        </p:spPr>
      </p:sp>
      <p:sp>
        <p:nvSpPr>
          <p:cNvPr id="19" name="Shape 16"/>
          <p:cNvSpPr/>
          <p:nvPr/>
        </p:nvSpPr>
        <p:spPr>
          <a:xfrm>
            <a:off x="5669280" y="2542032"/>
            <a:ext cx="3108960" cy="64008"/>
          </a:xfrm>
          <a:prstGeom prst="rect">
            <a:avLst/>
          </a:prstGeom>
          <a:solidFill>
            <a:srgbClr val="C9943A"/>
          </a:solidFill>
          <a:ln/>
        </p:spPr>
      </p:sp>
      <p:sp>
        <p:nvSpPr>
          <p:cNvPr id="20" name="Text 17"/>
          <p:cNvSpPr/>
          <p:nvPr/>
        </p:nvSpPr>
        <p:spPr>
          <a:xfrm>
            <a:off x="5806440" y="2651760"/>
            <a:ext cx="2834640" cy="347472"/>
          </a:xfrm>
          <a:prstGeom prst="rect">
            <a:avLst/>
          </a:prstGeom>
          <a:noFill/>
          <a:ln/>
        </p:spPr>
        <p:txBody>
          <a:bodyPr wrap="square" rtlCol="0" anchor="ctr"/>
          <a:lstStyle/>
          <a:p>
            <a:pPr marL="0" indent="0">
              <a:buNone/>
            </a:pPr>
            <a:r>
              <a:rPr lang="en-US" sz="1400" b="1" dirty="0">
                <a:solidFill>
                  <a:srgbClr val="E8B455"/>
                </a:solidFill>
                <a:latin typeface="Georgia" pitchFamily="34" charset="0"/>
                <a:ea typeface="Georgia" pitchFamily="34" charset="-122"/>
                <a:cs typeface="Georgia" pitchFamily="34" charset="-120"/>
              </a:rPr>
              <a:t>Key Insight</a:t>
            </a:r>
            <a:endParaRPr lang="en-US" sz="1400" dirty="0"/>
          </a:p>
        </p:txBody>
      </p:sp>
      <p:sp>
        <p:nvSpPr>
          <p:cNvPr id="21" name="Text 18"/>
          <p:cNvSpPr/>
          <p:nvPr/>
        </p:nvSpPr>
        <p:spPr>
          <a:xfrm>
            <a:off x="5806440" y="3044952"/>
            <a:ext cx="2834640" cy="157276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$10/barrel rise in crude prices widens India's CAD by ~$15 billion annually.</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This directly weakens the INR and pushes up domestic inflation via rising import costs.</a:t>
            </a:r>
            <a:endParaRPr lang="en-US" sz="1150" dirty="0"/>
          </a:p>
        </p:txBody>
      </p:sp>
      <p:sp>
        <p:nvSpPr>
          <p:cNvPr id="22" name="Text 19"/>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Brent Crude Price vs INR/USD — Historical Correlation</a:t>
            </a:r>
            <a:endParaRPr lang="en-US" sz="2600" dirty="0"/>
          </a:p>
        </p:txBody>
      </p:sp>
      <p:sp>
        <p:nvSpPr>
          <p:cNvPr id="3" name="Shape 1"/>
          <p:cNvSpPr/>
          <p:nvPr/>
        </p:nvSpPr>
        <p:spPr>
          <a:xfrm>
            <a:off x="457200" y="804672"/>
            <a:ext cx="1280160" cy="45720"/>
          </a:xfrm>
          <a:prstGeom prst="rect">
            <a:avLst/>
          </a:prstGeom>
          <a:solidFill>
            <a:srgbClr val="C9943A"/>
          </a:solidFill>
          <a:ln/>
        </p:spPr>
      </p:sp>
      <p:graphicFrame>
        <p:nvGraphicFramePr>
          <p:cNvPr id="4" name="Chart 0"/>
          <p:cNvGraphicFramePr/>
          <p:nvPr/>
        </p:nvGraphicFramePr>
        <p:xfrm>
          <a:off x="365760" y="1005840"/>
          <a:ext cx="51206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5577840" y="1005840"/>
          <a:ext cx="32004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365760" y="4315968"/>
            <a:ext cx="8412480" cy="475488"/>
          </a:xfrm>
          <a:prstGeom prst="rect">
            <a:avLst/>
          </a:prstGeom>
          <a:solidFill>
            <a:srgbClr val="0D1F3C"/>
          </a:solidFill>
          <a:ln/>
        </p:spPr>
      </p:sp>
      <p:sp>
        <p:nvSpPr>
          <p:cNvPr id="7" name="Text 3"/>
          <p:cNvSpPr/>
          <p:nvPr/>
        </p:nvSpPr>
        <p:spPr>
          <a:xfrm>
            <a:off x="502920" y="4334256"/>
            <a:ext cx="8229600" cy="420624"/>
          </a:xfrm>
          <a:prstGeom prst="rect">
            <a:avLst/>
          </a:prstGeom>
          <a:noFill/>
          <a:ln/>
        </p:spPr>
        <p:txBody>
          <a:bodyPr wrap="square" rtlCol="0" anchor="ctr"/>
          <a:lstStyle/>
          <a:p>
            <a:pPr marL="0" indent="0">
              <a:buNone/>
            </a:pPr>
            <a:r>
              <a:rPr lang="en-US" sz="1150" dirty="0">
                <a:solidFill>
                  <a:srgbClr val="E8B455"/>
                </a:solidFill>
                <a:latin typeface="Calibri" pitchFamily="34" charset="0"/>
                <a:ea typeface="Calibri" pitchFamily="34" charset="-122"/>
                <a:cs typeface="Calibri" pitchFamily="34" charset="-120"/>
              </a:rPr>
              <a:t>📊 Key Insight: India's CAD widens when crude prices rise. A $10/bbl increase ≈ $15B wider CAD → INR depreciates further.</a:t>
            </a:r>
            <a:endParaRPr lang="en-US" sz="1150" dirty="0"/>
          </a:p>
        </p:txBody>
      </p:sp>
      <p:sp>
        <p:nvSpPr>
          <p:cNvPr id="8" name="Text 4"/>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Exchange Rate Mechanisms &amp; INR Determinants</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2651760" cy="1645920"/>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365760" y="1005840"/>
            <a:ext cx="2651760" cy="91440"/>
          </a:xfrm>
          <a:prstGeom prst="rect">
            <a:avLst/>
          </a:prstGeom>
          <a:solidFill>
            <a:srgbClr val="C0392B"/>
          </a:solidFill>
          <a:ln/>
        </p:spPr>
      </p:sp>
      <p:sp>
        <p:nvSpPr>
          <p:cNvPr id="6" name="Text 4"/>
          <p:cNvSpPr/>
          <p:nvPr/>
        </p:nvSpPr>
        <p:spPr>
          <a:xfrm>
            <a:off x="502920" y="1115568"/>
            <a:ext cx="2377440" cy="384048"/>
          </a:xfrm>
          <a:prstGeom prst="rect">
            <a:avLst/>
          </a:prstGeom>
          <a:noFill/>
          <a:ln/>
        </p:spPr>
        <p:txBody>
          <a:bodyPr wrap="square" lIns="0" tIns="0" rIns="0" bIns="0" rtlCol="0" anchor="ctr"/>
          <a:lstStyle/>
          <a:p>
            <a:pPr marL="0" indent="0">
              <a:buNone/>
            </a:pPr>
            <a:r>
              <a:rPr lang="en-US" sz="1500" b="1" dirty="0">
                <a:solidFill>
                  <a:srgbClr val="C0392B"/>
                </a:solidFill>
                <a:latin typeface="Georgia" pitchFamily="34" charset="0"/>
                <a:ea typeface="Georgia" pitchFamily="34" charset="-122"/>
                <a:cs typeface="Georgia" pitchFamily="34" charset="-120"/>
              </a:rPr>
              <a:t>Fixed Rate</a:t>
            </a:r>
            <a:endParaRPr lang="en-US" sz="1500" dirty="0"/>
          </a:p>
        </p:txBody>
      </p:sp>
      <p:sp>
        <p:nvSpPr>
          <p:cNvPr id="7" name="Text 5"/>
          <p:cNvSpPr/>
          <p:nvPr/>
        </p:nvSpPr>
        <p:spPr>
          <a:xfrm>
            <a:off x="502920" y="1508760"/>
            <a:ext cx="2377440" cy="74980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Currency pegged to another (e.g. USD). Central bank buys/sells reserves to maintain the peg.</a:t>
            </a:r>
            <a:endParaRPr lang="en-US" sz="1050" dirty="0"/>
          </a:p>
        </p:txBody>
      </p:sp>
      <p:sp>
        <p:nvSpPr>
          <p:cNvPr id="8" name="Text 6"/>
          <p:cNvSpPr/>
          <p:nvPr/>
        </p:nvSpPr>
        <p:spPr>
          <a:xfrm>
            <a:off x="502920" y="2304288"/>
            <a:ext cx="2377440" cy="292608"/>
          </a:xfrm>
          <a:prstGeom prst="rect">
            <a:avLst/>
          </a:prstGeom>
          <a:noFill/>
          <a:ln/>
        </p:spPr>
        <p:txBody>
          <a:bodyPr wrap="square" lIns="0" tIns="0" rIns="0" bIns="0" rtlCol="0" anchor="ctr"/>
          <a:lstStyle/>
          <a:p>
            <a:pPr marL="0" indent="0">
              <a:buNone/>
            </a:pPr>
            <a:r>
              <a:rPr lang="en-US" sz="950" i="1" dirty="0">
                <a:solidFill>
                  <a:srgbClr val="8FA3B1"/>
                </a:solidFill>
                <a:latin typeface="Calibri" pitchFamily="34" charset="0"/>
                <a:ea typeface="Calibri" pitchFamily="34" charset="-122"/>
                <a:cs typeface="Calibri" pitchFamily="34" charset="-120"/>
              </a:rPr>
              <a:t>Example: Saudi Riyal pegged to USD at 3.75</a:t>
            </a:r>
            <a:endParaRPr lang="en-US" sz="950" dirty="0"/>
          </a:p>
        </p:txBody>
      </p:sp>
      <p:sp>
        <p:nvSpPr>
          <p:cNvPr id="9" name="Shape 7"/>
          <p:cNvSpPr/>
          <p:nvPr/>
        </p:nvSpPr>
        <p:spPr>
          <a:xfrm>
            <a:off x="3246120" y="1005840"/>
            <a:ext cx="2651760" cy="1645920"/>
          </a:xfrm>
          <a:prstGeom prst="rect">
            <a:avLst/>
          </a:prstGeom>
          <a:solidFill>
            <a:srgbClr val="FFFFFF"/>
          </a:solidFill>
          <a:ln/>
          <a:effectLst>
            <a:outerShdw blurRad="101600" dist="38100" dir="8100000" algn="bl" rotWithShape="0">
              <a:srgbClr val="000000">
                <a:alpha val="18000"/>
              </a:srgbClr>
            </a:outerShdw>
          </a:effectLst>
        </p:spPr>
      </p:sp>
      <p:sp>
        <p:nvSpPr>
          <p:cNvPr id="10" name="Shape 8"/>
          <p:cNvSpPr/>
          <p:nvPr/>
        </p:nvSpPr>
        <p:spPr>
          <a:xfrm>
            <a:off x="3246120" y="1005840"/>
            <a:ext cx="2651760" cy="91440"/>
          </a:xfrm>
          <a:prstGeom prst="rect">
            <a:avLst/>
          </a:prstGeom>
          <a:solidFill>
            <a:srgbClr val="1B7FA6"/>
          </a:solidFill>
          <a:ln/>
        </p:spPr>
      </p:sp>
      <p:sp>
        <p:nvSpPr>
          <p:cNvPr id="11" name="Text 9"/>
          <p:cNvSpPr/>
          <p:nvPr/>
        </p:nvSpPr>
        <p:spPr>
          <a:xfrm>
            <a:off x="3383280" y="1115568"/>
            <a:ext cx="2377440" cy="384048"/>
          </a:xfrm>
          <a:prstGeom prst="rect">
            <a:avLst/>
          </a:prstGeom>
          <a:noFill/>
          <a:ln/>
        </p:spPr>
        <p:txBody>
          <a:bodyPr wrap="square" lIns="0" tIns="0" rIns="0" bIns="0" rtlCol="0" anchor="ctr"/>
          <a:lstStyle/>
          <a:p>
            <a:pPr marL="0" indent="0">
              <a:buNone/>
            </a:pPr>
            <a:r>
              <a:rPr lang="en-US" sz="1500" b="1" dirty="0">
                <a:solidFill>
                  <a:srgbClr val="1B7FA6"/>
                </a:solidFill>
                <a:latin typeface="Georgia" pitchFamily="34" charset="0"/>
                <a:ea typeface="Georgia" pitchFamily="34" charset="-122"/>
                <a:cs typeface="Georgia" pitchFamily="34" charset="-120"/>
              </a:rPr>
              <a:t>Floating Rate</a:t>
            </a:r>
            <a:endParaRPr lang="en-US" sz="1500" dirty="0"/>
          </a:p>
        </p:txBody>
      </p:sp>
      <p:sp>
        <p:nvSpPr>
          <p:cNvPr id="12" name="Text 10"/>
          <p:cNvSpPr/>
          <p:nvPr/>
        </p:nvSpPr>
        <p:spPr>
          <a:xfrm>
            <a:off x="3383280" y="1508760"/>
            <a:ext cx="2377440" cy="74980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Market forces (supply &amp; demand) freely determine the rate. Most major currencies — USD, EUR, JPY.</a:t>
            </a:r>
            <a:endParaRPr lang="en-US" sz="1050" dirty="0"/>
          </a:p>
        </p:txBody>
      </p:sp>
      <p:sp>
        <p:nvSpPr>
          <p:cNvPr id="13" name="Text 11"/>
          <p:cNvSpPr/>
          <p:nvPr/>
        </p:nvSpPr>
        <p:spPr>
          <a:xfrm>
            <a:off x="3383280" y="2304288"/>
            <a:ext cx="2377440" cy="292608"/>
          </a:xfrm>
          <a:prstGeom prst="rect">
            <a:avLst/>
          </a:prstGeom>
          <a:noFill/>
          <a:ln/>
        </p:spPr>
        <p:txBody>
          <a:bodyPr wrap="square" lIns="0" tIns="0" rIns="0" bIns="0" rtlCol="0" anchor="ctr"/>
          <a:lstStyle/>
          <a:p>
            <a:pPr marL="0" indent="0">
              <a:buNone/>
            </a:pPr>
            <a:r>
              <a:rPr lang="en-US" sz="950" i="1" dirty="0">
                <a:solidFill>
                  <a:srgbClr val="8FA3B1"/>
                </a:solidFill>
                <a:latin typeface="Calibri" pitchFamily="34" charset="0"/>
                <a:ea typeface="Calibri" pitchFamily="34" charset="-122"/>
                <a:cs typeface="Calibri" pitchFamily="34" charset="-120"/>
              </a:rPr>
              <a:t>Example: US Dollar, Euro, British Pound</a:t>
            </a:r>
            <a:endParaRPr lang="en-US" sz="950" dirty="0"/>
          </a:p>
        </p:txBody>
      </p:sp>
      <p:sp>
        <p:nvSpPr>
          <p:cNvPr id="14" name="Shape 12"/>
          <p:cNvSpPr/>
          <p:nvPr/>
        </p:nvSpPr>
        <p:spPr>
          <a:xfrm>
            <a:off x="6126480" y="1005840"/>
            <a:ext cx="2651760" cy="1645920"/>
          </a:xfrm>
          <a:prstGeom prst="rect">
            <a:avLst/>
          </a:prstGeom>
          <a:solidFill>
            <a:srgbClr val="FFFFFF"/>
          </a:solidFill>
          <a:ln/>
          <a:effectLst>
            <a:outerShdw blurRad="101600" dist="38100" dir="8100000" algn="bl" rotWithShape="0">
              <a:srgbClr val="000000">
                <a:alpha val="18000"/>
              </a:srgbClr>
            </a:outerShdw>
          </a:effectLst>
        </p:spPr>
      </p:sp>
      <p:sp>
        <p:nvSpPr>
          <p:cNvPr id="15" name="Shape 13"/>
          <p:cNvSpPr/>
          <p:nvPr/>
        </p:nvSpPr>
        <p:spPr>
          <a:xfrm>
            <a:off x="6126480" y="1005840"/>
            <a:ext cx="2651760" cy="91440"/>
          </a:xfrm>
          <a:prstGeom prst="rect">
            <a:avLst/>
          </a:prstGeom>
          <a:solidFill>
            <a:srgbClr val="C9943A"/>
          </a:solidFill>
          <a:ln/>
        </p:spPr>
      </p:sp>
      <p:sp>
        <p:nvSpPr>
          <p:cNvPr id="16" name="Text 14"/>
          <p:cNvSpPr/>
          <p:nvPr/>
        </p:nvSpPr>
        <p:spPr>
          <a:xfrm>
            <a:off x="6263640" y="1115568"/>
            <a:ext cx="2377440" cy="384048"/>
          </a:xfrm>
          <a:prstGeom prst="rect">
            <a:avLst/>
          </a:prstGeom>
          <a:noFill/>
          <a:ln/>
        </p:spPr>
        <p:txBody>
          <a:bodyPr wrap="square" lIns="0" tIns="0" rIns="0" bIns="0" rtlCol="0" anchor="ctr"/>
          <a:lstStyle/>
          <a:p>
            <a:pPr marL="0" indent="0">
              <a:buNone/>
            </a:pPr>
            <a:r>
              <a:rPr lang="en-US" sz="1500" b="1" dirty="0">
                <a:solidFill>
                  <a:srgbClr val="C9943A"/>
                </a:solidFill>
                <a:latin typeface="Georgia" pitchFamily="34" charset="0"/>
                <a:ea typeface="Georgia" pitchFamily="34" charset="-122"/>
                <a:cs typeface="Georgia" pitchFamily="34" charset="-120"/>
              </a:rPr>
              <a:t>Managed Float</a:t>
            </a:r>
            <a:endParaRPr lang="en-US" sz="1500" dirty="0"/>
          </a:p>
        </p:txBody>
      </p:sp>
      <p:sp>
        <p:nvSpPr>
          <p:cNvPr id="17" name="Text 15"/>
          <p:cNvSpPr/>
          <p:nvPr/>
        </p:nvSpPr>
        <p:spPr>
          <a:xfrm>
            <a:off x="6263640" y="1508760"/>
            <a:ext cx="2377440" cy="74980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Currency floats but central bank intervenes to prevent excessive volatility — India's system.</a:t>
            </a:r>
            <a:endParaRPr lang="en-US" sz="1050" dirty="0"/>
          </a:p>
        </p:txBody>
      </p:sp>
      <p:sp>
        <p:nvSpPr>
          <p:cNvPr id="18" name="Text 16"/>
          <p:cNvSpPr/>
          <p:nvPr/>
        </p:nvSpPr>
        <p:spPr>
          <a:xfrm>
            <a:off x="6263640" y="2304288"/>
            <a:ext cx="2377440" cy="292608"/>
          </a:xfrm>
          <a:prstGeom prst="rect">
            <a:avLst/>
          </a:prstGeom>
          <a:noFill/>
          <a:ln/>
        </p:spPr>
        <p:txBody>
          <a:bodyPr wrap="square" lIns="0" tIns="0" rIns="0" bIns="0" rtlCol="0" anchor="ctr"/>
          <a:lstStyle/>
          <a:p>
            <a:pPr marL="0" indent="0">
              <a:buNone/>
            </a:pPr>
            <a:r>
              <a:rPr lang="en-US" sz="950" i="1" dirty="0">
                <a:solidFill>
                  <a:srgbClr val="8FA3B1"/>
                </a:solidFill>
                <a:latin typeface="Calibri" pitchFamily="34" charset="0"/>
                <a:ea typeface="Calibri" pitchFamily="34" charset="-122"/>
                <a:cs typeface="Calibri" pitchFamily="34" charset="-120"/>
              </a:rPr>
              <a:t>INR floats freely; RBI intervenes when needed</a:t>
            </a:r>
            <a:endParaRPr lang="en-US" sz="950" dirty="0"/>
          </a:p>
        </p:txBody>
      </p:sp>
      <p:sp>
        <p:nvSpPr>
          <p:cNvPr id="19" name="Text 17"/>
          <p:cNvSpPr/>
          <p:nvPr/>
        </p:nvSpPr>
        <p:spPr>
          <a:xfrm>
            <a:off x="365760" y="2788920"/>
            <a:ext cx="8412480" cy="365760"/>
          </a:xfrm>
          <a:prstGeom prst="rect">
            <a:avLst/>
          </a:prstGeom>
          <a:noFill/>
          <a:ln/>
        </p:spPr>
        <p:txBody>
          <a:bodyPr wrap="square"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Key Determinants of INR Exchange Rate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3200400"/>
          <a:ext cx="8412480" cy="1645920"/>
        </p:xfrm>
        <a:graphic>
          <a:graphicData uri="http://schemas.openxmlformats.org/drawingml/2006/table">
            <a:tbl>
              <a:tblPr/>
              <a:tblGrid>
                <a:gridCol w="41148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F3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Effect on INR</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F3C"/>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Rising Crude Oil Prices</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INR weakens — more USD needed to pay oil import bill ↓</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Increase in FII / FDI Investments</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INR strengthens — USD inflows increase ↑</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Higher US Interest Rates (Fed)</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INR weakens — capital flows out to USD assets ↓</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India's Export Growth</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INR strengthens — more USD earned by exporters ↑</a:t>
                      </a:r>
                      <a:endParaRPr lang="en-US" sz="1100" dirty="0">
                        <a:latin typeface="Calibri" charset="0"/>
                        <a:ea typeface="Calibri" charset="0"/>
                        <a:cs typeface="Calibri"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Text 18"/>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Hedging Against Crude Oil–Forex Risk</a:t>
            </a:r>
            <a:endParaRPr lang="en-US" sz="2600" dirty="0"/>
          </a:p>
        </p:txBody>
      </p:sp>
      <p:sp>
        <p:nvSpPr>
          <p:cNvPr id="3" name="Shape 1"/>
          <p:cNvSpPr/>
          <p:nvPr/>
        </p:nvSpPr>
        <p:spPr>
          <a:xfrm>
            <a:off x="457200" y="804672"/>
            <a:ext cx="1280160" cy="45720"/>
          </a:xfrm>
          <a:prstGeom prst="rect">
            <a:avLst/>
          </a:prstGeom>
          <a:solidFill>
            <a:srgbClr val="C9943A"/>
          </a:solidFill>
          <a:ln/>
        </p:spPr>
      </p:sp>
      <p:sp>
        <p:nvSpPr>
          <p:cNvPr id="4" name="Shape 2"/>
          <p:cNvSpPr/>
          <p:nvPr/>
        </p:nvSpPr>
        <p:spPr>
          <a:xfrm>
            <a:off x="365760" y="1005840"/>
            <a:ext cx="4114800" cy="1719072"/>
          </a:xfrm>
          <a:prstGeom prst="rect">
            <a:avLst/>
          </a:prstGeom>
          <a:solidFill>
            <a:srgbClr val="FFFFFF"/>
          </a:solidFill>
          <a:ln/>
          <a:effectLst>
            <a:outerShdw blurRad="101600" dist="38100" dir="8100000" algn="bl" rotWithShape="0">
              <a:srgbClr val="000000">
                <a:alpha val="18000"/>
              </a:srgbClr>
            </a:outerShdw>
          </a:effectLst>
        </p:spPr>
      </p:sp>
      <p:sp>
        <p:nvSpPr>
          <p:cNvPr id="5" name="Shape 3"/>
          <p:cNvSpPr/>
          <p:nvPr/>
        </p:nvSpPr>
        <p:spPr>
          <a:xfrm>
            <a:off x="365760" y="1005840"/>
            <a:ext cx="4114800" cy="73152"/>
          </a:xfrm>
          <a:prstGeom prst="rect">
            <a:avLst/>
          </a:prstGeom>
          <a:solidFill>
            <a:srgbClr val="1B7FA6"/>
          </a:solidFill>
          <a:ln/>
        </p:spPr>
      </p:sp>
      <p:sp>
        <p:nvSpPr>
          <p:cNvPr id="6" name="Text 4"/>
          <p:cNvSpPr/>
          <p:nvPr/>
        </p:nvSpPr>
        <p:spPr>
          <a:xfrm>
            <a:off x="502920" y="1115568"/>
            <a:ext cx="3840480" cy="411480"/>
          </a:xfrm>
          <a:prstGeom prst="rect">
            <a:avLst/>
          </a:prstGeom>
          <a:noFill/>
          <a:ln/>
        </p:spPr>
        <p:txBody>
          <a:bodyPr wrap="square" lIns="0" tIns="0" rIns="0" bIns="0" rtlCol="0" anchor="ctr"/>
          <a:lstStyle/>
          <a:p>
            <a:pPr marL="0" indent="0">
              <a:buNone/>
            </a:pPr>
            <a:r>
              <a:rPr lang="en-US" sz="1400" b="1" dirty="0">
                <a:solidFill>
                  <a:srgbClr val="1B7FA6"/>
                </a:solidFill>
                <a:latin typeface="Georgia" pitchFamily="34" charset="0"/>
                <a:ea typeface="Georgia" pitchFamily="34" charset="-122"/>
                <a:cs typeface="Georgia" pitchFamily="34" charset="-120"/>
              </a:rPr>
              <a:t>Currency Forward Contracts</a:t>
            </a:r>
            <a:endParaRPr lang="en-US" sz="1400" dirty="0"/>
          </a:p>
        </p:txBody>
      </p:sp>
      <p:sp>
        <p:nvSpPr>
          <p:cNvPr id="7" name="Text 5"/>
          <p:cNvSpPr/>
          <p:nvPr/>
        </p:nvSpPr>
        <p:spPr>
          <a:xfrm>
            <a:off x="502920" y="1536192"/>
            <a:ext cx="3840480" cy="274320"/>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 Oil PSUs, Airlines (Importers)</a:t>
            </a:r>
            <a:endParaRPr lang="en-US" sz="1000" dirty="0"/>
          </a:p>
        </p:txBody>
      </p:sp>
      <p:sp>
        <p:nvSpPr>
          <p:cNvPr id="8" name="Text 6"/>
          <p:cNvSpPr/>
          <p:nvPr/>
        </p:nvSpPr>
        <p:spPr>
          <a:xfrm>
            <a:off x="502920" y="1810512"/>
            <a:ext cx="3840480" cy="530352"/>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Lock in USD/INR rate today for future oil payment — eliminates forex uncertainty at settlement.</a:t>
            </a:r>
            <a:endParaRPr lang="en-US" sz="1100" dirty="0"/>
          </a:p>
        </p:txBody>
      </p:sp>
      <p:sp>
        <p:nvSpPr>
          <p:cNvPr id="9" name="Shape 7"/>
          <p:cNvSpPr/>
          <p:nvPr/>
        </p:nvSpPr>
        <p:spPr>
          <a:xfrm>
            <a:off x="502920" y="2395728"/>
            <a:ext cx="3840480" cy="256032"/>
          </a:xfrm>
          <a:prstGeom prst="rect">
            <a:avLst/>
          </a:prstGeom>
          <a:solidFill>
            <a:srgbClr val="1B7FA6">
              <a:alpha val="12000"/>
            </a:srgbClr>
          </a:solidFill>
          <a:ln/>
        </p:spPr>
      </p:sp>
      <p:sp>
        <p:nvSpPr>
          <p:cNvPr id="10" name="Text 8"/>
          <p:cNvSpPr/>
          <p:nvPr/>
        </p:nvSpPr>
        <p:spPr>
          <a:xfrm>
            <a:off x="502920" y="2395728"/>
            <a:ext cx="3840480" cy="256032"/>
          </a:xfrm>
          <a:prstGeom prst="rect">
            <a:avLst/>
          </a:prstGeom>
          <a:noFill/>
          <a:ln/>
        </p:spPr>
        <p:txBody>
          <a:bodyPr wrap="square" lIns="0" tIns="0" rIns="0" bIns="0" rtlCol="0" anchor="ctr"/>
          <a:lstStyle/>
          <a:p>
            <a:pPr marL="0" indent="0">
              <a:buNone/>
            </a:pPr>
            <a:r>
              <a:rPr lang="en-US" sz="950" b="1" dirty="0">
                <a:solidFill>
                  <a:srgbClr val="1B7FA6"/>
                </a:solidFill>
                <a:latin typeface="Calibri" pitchFamily="34" charset="0"/>
                <a:ea typeface="Calibri" pitchFamily="34" charset="-122"/>
                <a:cs typeface="Calibri" pitchFamily="34" charset="-120"/>
              </a:rPr>
              <a:t>⚠ Risk: Miss gains if INR strengthens</a:t>
            </a:r>
            <a:endParaRPr lang="en-US" sz="950" dirty="0"/>
          </a:p>
        </p:txBody>
      </p:sp>
      <p:sp>
        <p:nvSpPr>
          <p:cNvPr id="11" name="Shape 9"/>
          <p:cNvSpPr/>
          <p:nvPr/>
        </p:nvSpPr>
        <p:spPr>
          <a:xfrm>
            <a:off x="4663440" y="1005840"/>
            <a:ext cx="4114800" cy="1719072"/>
          </a:xfrm>
          <a:prstGeom prst="rect">
            <a:avLst/>
          </a:prstGeom>
          <a:solidFill>
            <a:srgbClr val="FFFFFF"/>
          </a:solidFill>
          <a:ln/>
          <a:effectLst>
            <a:outerShdw blurRad="101600" dist="38100" dir="8100000" algn="bl" rotWithShape="0">
              <a:srgbClr val="000000">
                <a:alpha val="18000"/>
              </a:srgbClr>
            </a:outerShdw>
          </a:effectLst>
        </p:spPr>
      </p:sp>
      <p:sp>
        <p:nvSpPr>
          <p:cNvPr id="12" name="Shape 10"/>
          <p:cNvSpPr/>
          <p:nvPr/>
        </p:nvSpPr>
        <p:spPr>
          <a:xfrm>
            <a:off x="4663440" y="1005840"/>
            <a:ext cx="4114800" cy="73152"/>
          </a:xfrm>
          <a:prstGeom prst="rect">
            <a:avLst/>
          </a:prstGeom>
          <a:solidFill>
            <a:srgbClr val="C9943A"/>
          </a:solidFill>
          <a:ln/>
        </p:spPr>
      </p:sp>
      <p:sp>
        <p:nvSpPr>
          <p:cNvPr id="13" name="Text 11"/>
          <p:cNvSpPr/>
          <p:nvPr/>
        </p:nvSpPr>
        <p:spPr>
          <a:xfrm>
            <a:off x="4800600" y="1115568"/>
            <a:ext cx="3840480" cy="411480"/>
          </a:xfrm>
          <a:prstGeom prst="rect">
            <a:avLst/>
          </a:prstGeom>
          <a:noFill/>
          <a:ln/>
        </p:spPr>
        <p:txBody>
          <a:bodyPr wrap="square" lIns="0" tIns="0" rIns="0" bIns="0" rtlCol="0" anchor="ctr"/>
          <a:lstStyle/>
          <a:p>
            <a:pPr marL="0" indent="0">
              <a:buNone/>
            </a:pPr>
            <a:r>
              <a:rPr lang="en-US" sz="1400" b="1" dirty="0">
                <a:solidFill>
                  <a:srgbClr val="C9943A"/>
                </a:solidFill>
                <a:latin typeface="Georgia" pitchFamily="34" charset="0"/>
                <a:ea typeface="Georgia" pitchFamily="34" charset="-122"/>
                <a:cs typeface="Georgia" pitchFamily="34" charset="-120"/>
              </a:rPr>
              <a:t>Currency Options (Put/Call)</a:t>
            </a:r>
            <a:endParaRPr lang="en-US" sz="1400" dirty="0"/>
          </a:p>
        </p:txBody>
      </p:sp>
      <p:sp>
        <p:nvSpPr>
          <p:cNvPr id="14" name="Text 12"/>
          <p:cNvSpPr/>
          <p:nvPr/>
        </p:nvSpPr>
        <p:spPr>
          <a:xfrm>
            <a:off x="4800600" y="1536192"/>
            <a:ext cx="3840480" cy="274320"/>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 Exporters &amp; Corporate Treasuries</a:t>
            </a:r>
            <a:endParaRPr lang="en-US" sz="1000" dirty="0"/>
          </a:p>
        </p:txBody>
      </p:sp>
      <p:sp>
        <p:nvSpPr>
          <p:cNvPr id="15" name="Text 13"/>
          <p:cNvSpPr/>
          <p:nvPr/>
        </p:nvSpPr>
        <p:spPr>
          <a:xfrm>
            <a:off x="4800600" y="1810512"/>
            <a:ext cx="3840480" cy="530352"/>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Buy USD call option. If INR weakens → exercise option. If INR strengthens → let it lapse.</a:t>
            </a:r>
            <a:endParaRPr lang="en-US" sz="1100" dirty="0"/>
          </a:p>
        </p:txBody>
      </p:sp>
      <p:sp>
        <p:nvSpPr>
          <p:cNvPr id="16" name="Shape 14"/>
          <p:cNvSpPr/>
          <p:nvPr/>
        </p:nvSpPr>
        <p:spPr>
          <a:xfrm>
            <a:off x="4800600" y="2395728"/>
            <a:ext cx="3840480" cy="256032"/>
          </a:xfrm>
          <a:prstGeom prst="rect">
            <a:avLst/>
          </a:prstGeom>
          <a:solidFill>
            <a:srgbClr val="C9943A">
              <a:alpha val="12000"/>
            </a:srgbClr>
          </a:solidFill>
          <a:ln/>
        </p:spPr>
      </p:sp>
      <p:sp>
        <p:nvSpPr>
          <p:cNvPr id="17" name="Text 15"/>
          <p:cNvSpPr/>
          <p:nvPr/>
        </p:nvSpPr>
        <p:spPr>
          <a:xfrm>
            <a:off x="4800600" y="2395728"/>
            <a:ext cx="3840480" cy="256032"/>
          </a:xfrm>
          <a:prstGeom prst="rect">
            <a:avLst/>
          </a:prstGeom>
          <a:noFill/>
          <a:ln/>
        </p:spPr>
        <p:txBody>
          <a:bodyPr wrap="square" lIns="0" tIns="0" rIns="0" bIns="0" rtlCol="0" anchor="ctr"/>
          <a:lstStyle/>
          <a:p>
            <a:pPr marL="0" indent="0">
              <a:buNone/>
            </a:pPr>
            <a:r>
              <a:rPr lang="en-US" sz="950" b="1" dirty="0">
                <a:solidFill>
                  <a:srgbClr val="C9943A"/>
                </a:solidFill>
                <a:latin typeface="Calibri" pitchFamily="34" charset="0"/>
                <a:ea typeface="Calibri" pitchFamily="34" charset="-122"/>
                <a:cs typeface="Calibri" pitchFamily="34" charset="-120"/>
              </a:rPr>
              <a:t>⚠ Risk: Premium cost; complex pricing</a:t>
            </a:r>
            <a:endParaRPr lang="en-US" sz="950" dirty="0"/>
          </a:p>
        </p:txBody>
      </p:sp>
      <p:sp>
        <p:nvSpPr>
          <p:cNvPr id="18" name="Shape 16"/>
          <p:cNvSpPr/>
          <p:nvPr/>
        </p:nvSpPr>
        <p:spPr>
          <a:xfrm>
            <a:off x="365760" y="2926080"/>
            <a:ext cx="4114800" cy="1719072"/>
          </a:xfrm>
          <a:prstGeom prst="rect">
            <a:avLst/>
          </a:prstGeom>
          <a:solidFill>
            <a:srgbClr val="FFFFFF"/>
          </a:solidFill>
          <a:ln/>
          <a:effectLst>
            <a:outerShdw blurRad="101600" dist="38100" dir="8100000" algn="bl" rotWithShape="0">
              <a:srgbClr val="000000">
                <a:alpha val="18000"/>
              </a:srgbClr>
            </a:outerShdw>
          </a:effectLst>
        </p:spPr>
      </p:sp>
      <p:sp>
        <p:nvSpPr>
          <p:cNvPr id="19" name="Shape 17"/>
          <p:cNvSpPr/>
          <p:nvPr/>
        </p:nvSpPr>
        <p:spPr>
          <a:xfrm>
            <a:off x="365760" y="2926080"/>
            <a:ext cx="4114800" cy="73152"/>
          </a:xfrm>
          <a:prstGeom prst="rect">
            <a:avLst/>
          </a:prstGeom>
          <a:solidFill>
            <a:srgbClr val="0D1F3C"/>
          </a:solidFill>
          <a:ln/>
        </p:spPr>
      </p:sp>
      <p:sp>
        <p:nvSpPr>
          <p:cNvPr id="20" name="Text 18"/>
          <p:cNvSpPr/>
          <p:nvPr/>
        </p:nvSpPr>
        <p:spPr>
          <a:xfrm>
            <a:off x="502920" y="3035808"/>
            <a:ext cx="3840480" cy="411480"/>
          </a:xfrm>
          <a:prstGeom prst="rect">
            <a:avLst/>
          </a:prstGeom>
          <a:noFill/>
          <a:ln/>
        </p:spPr>
        <p:txBody>
          <a:bodyPr wrap="square" lIns="0" tIns="0" rIns="0" bIns="0" rtlCol="0" anchor="ctr"/>
          <a:lstStyle/>
          <a:p>
            <a:pPr marL="0" indent="0">
              <a:buNone/>
            </a:pPr>
            <a:r>
              <a:rPr lang="en-US" sz="1400" b="1" dirty="0">
                <a:solidFill>
                  <a:srgbClr val="0D1F3C"/>
                </a:solidFill>
                <a:latin typeface="Georgia" pitchFamily="34" charset="0"/>
                <a:ea typeface="Georgia" pitchFamily="34" charset="-122"/>
                <a:cs typeface="Georgia" pitchFamily="34" charset="-120"/>
              </a:rPr>
              <a:t>Crude Oil Futures (MCX/NYMEX)</a:t>
            </a:r>
            <a:endParaRPr lang="en-US" sz="1400" dirty="0"/>
          </a:p>
        </p:txBody>
      </p:sp>
      <p:sp>
        <p:nvSpPr>
          <p:cNvPr id="21" name="Text 19"/>
          <p:cNvSpPr/>
          <p:nvPr/>
        </p:nvSpPr>
        <p:spPr>
          <a:xfrm>
            <a:off x="502920" y="3456432"/>
            <a:ext cx="3840480" cy="274320"/>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 Refineries, Aviation Companies</a:t>
            </a:r>
            <a:endParaRPr lang="en-US" sz="1000" dirty="0"/>
          </a:p>
        </p:txBody>
      </p:sp>
      <p:sp>
        <p:nvSpPr>
          <p:cNvPr id="22" name="Text 20"/>
          <p:cNvSpPr/>
          <p:nvPr/>
        </p:nvSpPr>
        <p:spPr>
          <a:xfrm>
            <a:off x="502920" y="3730752"/>
            <a:ext cx="3840480" cy="530352"/>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Buy crude futures to lock in procurement price — protects against sudden price spikes.</a:t>
            </a:r>
            <a:endParaRPr lang="en-US" sz="1100" dirty="0"/>
          </a:p>
        </p:txBody>
      </p:sp>
      <p:sp>
        <p:nvSpPr>
          <p:cNvPr id="23" name="Shape 21"/>
          <p:cNvSpPr/>
          <p:nvPr/>
        </p:nvSpPr>
        <p:spPr>
          <a:xfrm>
            <a:off x="502920" y="4315968"/>
            <a:ext cx="3840480" cy="256032"/>
          </a:xfrm>
          <a:prstGeom prst="rect">
            <a:avLst/>
          </a:prstGeom>
          <a:solidFill>
            <a:srgbClr val="0D1F3C">
              <a:alpha val="12000"/>
            </a:srgbClr>
          </a:solidFill>
          <a:ln/>
        </p:spPr>
      </p:sp>
      <p:sp>
        <p:nvSpPr>
          <p:cNvPr id="24" name="Text 22"/>
          <p:cNvSpPr/>
          <p:nvPr/>
        </p:nvSpPr>
        <p:spPr>
          <a:xfrm>
            <a:off x="502920" y="4315968"/>
            <a:ext cx="3840480" cy="256032"/>
          </a:xfrm>
          <a:prstGeom prst="rect">
            <a:avLst/>
          </a:prstGeom>
          <a:noFill/>
          <a:ln/>
        </p:spPr>
        <p:txBody>
          <a:bodyPr wrap="square" lIns="0" tIns="0" rIns="0" bIns="0" rtlCol="0" anchor="ctr"/>
          <a:lstStyle/>
          <a:p>
            <a:pPr marL="0" indent="0">
              <a:buNone/>
            </a:pPr>
            <a:r>
              <a:rPr lang="en-US" sz="950" b="1" dirty="0">
                <a:solidFill>
                  <a:srgbClr val="0D1F3C"/>
                </a:solidFill>
                <a:latin typeface="Calibri" pitchFamily="34" charset="0"/>
                <a:ea typeface="Calibri" pitchFamily="34" charset="-122"/>
                <a:cs typeface="Calibri" pitchFamily="34" charset="-120"/>
              </a:rPr>
              <a:t>⚠ Risk: Margin calls if price falls sharply</a:t>
            </a:r>
            <a:endParaRPr lang="en-US" sz="950" dirty="0"/>
          </a:p>
        </p:txBody>
      </p:sp>
      <p:sp>
        <p:nvSpPr>
          <p:cNvPr id="25" name="Shape 23"/>
          <p:cNvSpPr/>
          <p:nvPr/>
        </p:nvSpPr>
        <p:spPr>
          <a:xfrm>
            <a:off x="4663440" y="2926080"/>
            <a:ext cx="4114800" cy="1719072"/>
          </a:xfrm>
          <a:prstGeom prst="rect">
            <a:avLst/>
          </a:prstGeom>
          <a:solidFill>
            <a:srgbClr val="FFFFFF"/>
          </a:solidFill>
          <a:ln/>
          <a:effectLst>
            <a:outerShdw blurRad="101600" dist="38100" dir="8100000" algn="bl" rotWithShape="0">
              <a:srgbClr val="000000">
                <a:alpha val="18000"/>
              </a:srgbClr>
            </a:outerShdw>
          </a:effectLst>
        </p:spPr>
      </p:sp>
      <p:sp>
        <p:nvSpPr>
          <p:cNvPr id="26" name="Shape 24"/>
          <p:cNvSpPr/>
          <p:nvPr/>
        </p:nvSpPr>
        <p:spPr>
          <a:xfrm>
            <a:off x="4663440" y="2926080"/>
            <a:ext cx="4114800" cy="73152"/>
          </a:xfrm>
          <a:prstGeom prst="rect">
            <a:avLst/>
          </a:prstGeom>
          <a:solidFill>
            <a:srgbClr val="1A8754"/>
          </a:solidFill>
          <a:ln/>
        </p:spPr>
      </p:sp>
      <p:sp>
        <p:nvSpPr>
          <p:cNvPr id="27" name="Text 25"/>
          <p:cNvSpPr/>
          <p:nvPr/>
        </p:nvSpPr>
        <p:spPr>
          <a:xfrm>
            <a:off x="4800600" y="3035808"/>
            <a:ext cx="3840480" cy="411480"/>
          </a:xfrm>
          <a:prstGeom prst="rect">
            <a:avLst/>
          </a:prstGeom>
          <a:noFill/>
          <a:ln/>
        </p:spPr>
        <p:txBody>
          <a:bodyPr wrap="square" lIns="0" tIns="0" rIns="0" bIns="0" rtlCol="0" anchor="ctr"/>
          <a:lstStyle/>
          <a:p>
            <a:pPr marL="0" indent="0">
              <a:buNone/>
            </a:pPr>
            <a:r>
              <a:rPr lang="en-US" sz="1400" b="1" dirty="0">
                <a:solidFill>
                  <a:srgbClr val="1A8754"/>
                </a:solidFill>
                <a:latin typeface="Georgia" pitchFamily="34" charset="0"/>
                <a:ea typeface="Georgia" pitchFamily="34" charset="-122"/>
                <a:cs typeface="Georgia" pitchFamily="34" charset="-120"/>
              </a:rPr>
              <a:t>Natural Hedging</a:t>
            </a:r>
            <a:endParaRPr lang="en-US" sz="1400" dirty="0"/>
          </a:p>
        </p:txBody>
      </p:sp>
      <p:sp>
        <p:nvSpPr>
          <p:cNvPr id="28" name="Text 26"/>
          <p:cNvSpPr/>
          <p:nvPr/>
        </p:nvSpPr>
        <p:spPr>
          <a:xfrm>
            <a:off x="4800600" y="3456432"/>
            <a:ext cx="3840480" cy="274320"/>
          </a:xfrm>
          <a:prstGeom prst="rect">
            <a:avLst/>
          </a:prstGeom>
          <a:noFill/>
          <a:ln/>
        </p:spPr>
        <p:txBody>
          <a:bodyPr wrap="square" lIns="0" tIns="0" rIns="0" bIns="0" rtlCol="0" anchor="ctr"/>
          <a:lstStyle/>
          <a:p>
            <a:pPr marL="0" indent="0">
              <a:buNone/>
            </a:pPr>
            <a:r>
              <a:rPr lang="en-US" sz="1000" i="1" dirty="0">
                <a:solidFill>
                  <a:srgbClr val="8FA3B1"/>
                </a:solidFill>
                <a:latin typeface="Calibri" pitchFamily="34" charset="0"/>
                <a:ea typeface="Calibri" pitchFamily="34" charset="-122"/>
                <a:cs typeface="Calibri" pitchFamily="34" charset="-120"/>
              </a:rPr>
              <a:t>👤 MNCs with India Operations</a:t>
            </a:r>
            <a:endParaRPr lang="en-US" sz="1000" dirty="0"/>
          </a:p>
        </p:txBody>
      </p:sp>
      <p:sp>
        <p:nvSpPr>
          <p:cNvPr id="29" name="Text 27"/>
          <p:cNvSpPr/>
          <p:nvPr/>
        </p:nvSpPr>
        <p:spPr>
          <a:xfrm>
            <a:off x="4800600" y="3730752"/>
            <a:ext cx="3840480" cy="530352"/>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Match USD revenues (exports) against USD costs (oil imports) to naturally offset FX exposure.</a:t>
            </a:r>
            <a:endParaRPr lang="en-US" sz="1100" dirty="0"/>
          </a:p>
        </p:txBody>
      </p:sp>
      <p:sp>
        <p:nvSpPr>
          <p:cNvPr id="30" name="Shape 28"/>
          <p:cNvSpPr/>
          <p:nvPr/>
        </p:nvSpPr>
        <p:spPr>
          <a:xfrm>
            <a:off x="4800600" y="4315968"/>
            <a:ext cx="3840480" cy="256032"/>
          </a:xfrm>
          <a:prstGeom prst="rect">
            <a:avLst/>
          </a:prstGeom>
          <a:solidFill>
            <a:srgbClr val="1A8754">
              <a:alpha val="12000"/>
            </a:srgbClr>
          </a:solidFill>
          <a:ln/>
        </p:spPr>
      </p:sp>
      <p:sp>
        <p:nvSpPr>
          <p:cNvPr id="31" name="Text 29"/>
          <p:cNvSpPr/>
          <p:nvPr/>
        </p:nvSpPr>
        <p:spPr>
          <a:xfrm>
            <a:off x="4800600" y="4315968"/>
            <a:ext cx="3840480" cy="256032"/>
          </a:xfrm>
          <a:prstGeom prst="rect">
            <a:avLst/>
          </a:prstGeom>
          <a:noFill/>
          <a:ln/>
        </p:spPr>
        <p:txBody>
          <a:bodyPr wrap="square" lIns="0" tIns="0" rIns="0" bIns="0" rtlCol="0" anchor="ctr"/>
          <a:lstStyle/>
          <a:p>
            <a:pPr marL="0" indent="0">
              <a:buNone/>
            </a:pPr>
            <a:r>
              <a:rPr lang="en-US" sz="950" b="1" dirty="0">
                <a:solidFill>
                  <a:srgbClr val="1A8754"/>
                </a:solidFill>
                <a:latin typeface="Calibri" pitchFamily="34" charset="0"/>
                <a:ea typeface="Calibri" pitchFamily="34" charset="-122"/>
                <a:cs typeface="Calibri" pitchFamily="34" charset="-120"/>
              </a:rPr>
              <a:t>⚠ Risk: Requires balanced exposure across geographies</a:t>
            </a:r>
            <a:endParaRPr lang="en-US" sz="950" dirty="0"/>
          </a:p>
        </p:txBody>
      </p:sp>
      <p:sp>
        <p:nvSpPr>
          <p:cNvPr id="32" name="Text 30"/>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9943A"/>
          </a:solidFill>
          <a:ln/>
        </p:spPr>
      </p:sp>
      <p:sp>
        <p:nvSpPr>
          <p:cNvPr id="3" name="Shape 1"/>
          <p:cNvSpPr/>
          <p:nvPr/>
        </p:nvSpPr>
        <p:spPr>
          <a:xfrm>
            <a:off x="182880" y="0"/>
            <a:ext cx="8961120" cy="685800"/>
          </a:xfrm>
          <a:prstGeom prst="rect">
            <a:avLst/>
          </a:prstGeom>
          <a:solidFill>
            <a:srgbClr val="0D1F3C"/>
          </a:solidFill>
          <a:ln/>
        </p:spPr>
      </p:sp>
      <p:sp>
        <p:nvSpPr>
          <p:cNvPr id="4" name="Text 2"/>
          <p:cNvSpPr/>
          <p:nvPr/>
        </p:nvSpPr>
        <p:spPr>
          <a:xfrm>
            <a:off x="365760" y="0"/>
            <a:ext cx="8595360" cy="685800"/>
          </a:xfrm>
          <a:prstGeom prst="rect">
            <a:avLst/>
          </a:prstGeom>
          <a:noFill/>
          <a:ln/>
        </p:spPr>
        <p:txBody>
          <a:bodyPr wrap="square" rtlCol="0" anchor="ctr"/>
          <a:lstStyle/>
          <a:p>
            <a:pPr marL="0" indent="0">
              <a:buNone/>
            </a:pPr>
            <a:r>
              <a:rPr lang="en-US" sz="1000" b="1" kern="0" spc="300" dirty="0">
                <a:solidFill>
                  <a:srgbClr val="E8B455"/>
                </a:solidFill>
                <a:latin typeface="Calibri" pitchFamily="34" charset="0"/>
                <a:ea typeface="Calibri" pitchFamily="34" charset="-122"/>
                <a:cs typeface="Calibri" pitchFamily="34" charset="-120"/>
              </a:rPr>
              <a:t>FINANCIAL INSTITUTIONS, MARKETS &amp; SERVICES  |  KEY CONCLUSIONS</a:t>
            </a:r>
            <a:endParaRPr lang="en-US" sz="1000" dirty="0"/>
          </a:p>
        </p:txBody>
      </p:sp>
      <p:sp>
        <p:nvSpPr>
          <p:cNvPr id="5" name="Text 3"/>
          <p:cNvSpPr/>
          <p:nvPr/>
        </p:nvSpPr>
        <p:spPr>
          <a:xfrm>
            <a:off x="365760" y="740664"/>
            <a:ext cx="8595360" cy="548640"/>
          </a:xfrm>
          <a:prstGeom prst="rect">
            <a:avLst/>
          </a:prstGeom>
          <a:noFill/>
          <a:ln/>
        </p:spPr>
        <p:txBody>
          <a:bodyPr wrap="square" rtlCol="0" anchor="ctr"/>
          <a:lstStyle/>
          <a:p>
            <a:pPr marL="0" indent="0" algn="ctr">
              <a:buNone/>
            </a:pPr>
            <a:r>
              <a:rPr lang="en-US" sz="3500" b="1" dirty="0">
                <a:solidFill>
                  <a:srgbClr val="0D1F3C"/>
                </a:solidFill>
                <a:latin typeface="Georgia" pitchFamily="34" charset="0"/>
                <a:ea typeface="Georgia" pitchFamily="34" charset="-122"/>
                <a:cs typeface="Georgia" pitchFamily="34" charset="-120"/>
              </a:rPr>
              <a:t>Summary &amp; Key Takeaways</a:t>
            </a:r>
            <a:endParaRPr lang="en-US" sz="3500" dirty="0"/>
          </a:p>
        </p:txBody>
      </p:sp>
      <p:sp>
        <p:nvSpPr>
          <p:cNvPr id="6" name="Shape 4"/>
          <p:cNvSpPr/>
          <p:nvPr/>
        </p:nvSpPr>
        <p:spPr>
          <a:xfrm>
            <a:off x="365760" y="1280160"/>
            <a:ext cx="2743200" cy="45720"/>
          </a:xfrm>
          <a:prstGeom prst="rect">
            <a:avLst/>
          </a:prstGeom>
          <a:solidFill>
            <a:srgbClr val="C9943A"/>
          </a:solidFill>
          <a:ln/>
        </p:spPr>
      </p:sp>
      <p:sp>
        <p:nvSpPr>
          <p:cNvPr id="7" name="Shape 5"/>
          <p:cNvSpPr/>
          <p:nvPr/>
        </p:nvSpPr>
        <p:spPr>
          <a:xfrm>
            <a:off x="365760" y="1371600"/>
            <a:ext cx="4023360" cy="1097280"/>
          </a:xfrm>
          <a:prstGeom prst="rect">
            <a:avLst/>
          </a:prstGeom>
          <a:solidFill>
            <a:srgbClr val="FFFFFF"/>
          </a:solidFill>
          <a:ln/>
          <a:effectLst>
            <a:outerShdw blurRad="101600" dist="38100" dir="8100000" algn="bl" rotWithShape="0">
              <a:srgbClr val="000000">
                <a:alpha val="18000"/>
              </a:srgbClr>
            </a:outerShdw>
          </a:effectLst>
        </p:spPr>
      </p:sp>
      <p:sp>
        <p:nvSpPr>
          <p:cNvPr id="8" name="Shape 6"/>
          <p:cNvSpPr/>
          <p:nvPr/>
        </p:nvSpPr>
        <p:spPr>
          <a:xfrm>
            <a:off x="365760" y="1371600"/>
            <a:ext cx="4023360" cy="73152"/>
          </a:xfrm>
          <a:prstGeom prst="rect">
            <a:avLst/>
          </a:prstGeom>
          <a:solidFill>
            <a:srgbClr val="0D1F3C"/>
          </a:solidFill>
          <a:ln/>
        </p:spPr>
      </p:sp>
      <p:sp>
        <p:nvSpPr>
          <p:cNvPr id="9" name="Text 7"/>
          <p:cNvSpPr/>
          <p:nvPr/>
        </p:nvSpPr>
        <p:spPr>
          <a:xfrm>
            <a:off x="548640" y="1481328"/>
            <a:ext cx="3657600" cy="274320"/>
          </a:xfrm>
          <a:prstGeom prst="rect">
            <a:avLst/>
          </a:prstGeom>
          <a:noFill/>
          <a:ln/>
        </p:spPr>
        <p:txBody>
          <a:bodyPr wrap="square" rtlCol="0" anchor="ctr"/>
          <a:lstStyle/>
          <a:p>
            <a:pPr marL="0" indent="0">
              <a:buNone/>
            </a:pPr>
            <a:r>
              <a:rPr lang="en-US" sz="1800" b="1" dirty="0">
                <a:solidFill>
                  <a:srgbClr val="0D1F3C"/>
                </a:solidFill>
                <a:latin typeface="Georgia" pitchFamily="34" charset="0"/>
                <a:ea typeface="Georgia" pitchFamily="34" charset="-122"/>
                <a:cs typeface="Georgia" pitchFamily="34" charset="-120"/>
              </a:rPr>
              <a:t>Petrodollar System</a:t>
            </a:r>
            <a:endParaRPr lang="en-US" sz="1800" dirty="0"/>
          </a:p>
        </p:txBody>
      </p:sp>
      <p:sp>
        <p:nvSpPr>
          <p:cNvPr id="10" name="Text 8"/>
          <p:cNvSpPr/>
          <p:nvPr/>
        </p:nvSpPr>
        <p:spPr>
          <a:xfrm>
            <a:off x="548640" y="1783080"/>
            <a:ext cx="3657600" cy="64008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Since 1973, crude oil is priced exclusively in USD, permanently linking oil markets to global FX dynamics and creating structural USD demand worldwide.</a:t>
            </a:r>
            <a:endParaRPr lang="en-US" sz="1100" dirty="0"/>
          </a:p>
        </p:txBody>
      </p:sp>
      <p:sp>
        <p:nvSpPr>
          <p:cNvPr id="11" name="Shape 9"/>
          <p:cNvSpPr/>
          <p:nvPr/>
        </p:nvSpPr>
        <p:spPr>
          <a:xfrm>
            <a:off x="4480560" y="1371600"/>
            <a:ext cx="4480560" cy="1097280"/>
          </a:xfrm>
          <a:prstGeom prst="rect">
            <a:avLst/>
          </a:prstGeom>
          <a:solidFill>
            <a:srgbClr val="FFFFFF"/>
          </a:solidFill>
          <a:ln/>
          <a:effectLst>
            <a:outerShdw blurRad="101600" dist="38100" dir="8100000" algn="bl" rotWithShape="0">
              <a:srgbClr val="000000">
                <a:alpha val="18000"/>
              </a:srgbClr>
            </a:outerShdw>
          </a:effectLst>
        </p:spPr>
      </p:sp>
      <p:sp>
        <p:nvSpPr>
          <p:cNvPr id="12" name="Shape 10"/>
          <p:cNvSpPr/>
          <p:nvPr/>
        </p:nvSpPr>
        <p:spPr>
          <a:xfrm>
            <a:off x="4480560" y="1371600"/>
            <a:ext cx="4480560" cy="73152"/>
          </a:xfrm>
          <a:prstGeom prst="rect">
            <a:avLst/>
          </a:prstGeom>
          <a:solidFill>
            <a:srgbClr val="132952"/>
          </a:solidFill>
          <a:ln/>
        </p:spPr>
      </p:sp>
      <p:sp>
        <p:nvSpPr>
          <p:cNvPr id="13" name="Text 11"/>
          <p:cNvSpPr/>
          <p:nvPr/>
        </p:nvSpPr>
        <p:spPr>
          <a:xfrm>
            <a:off x="4663440" y="1481328"/>
            <a:ext cx="4114800" cy="274320"/>
          </a:xfrm>
          <a:prstGeom prst="rect">
            <a:avLst/>
          </a:prstGeom>
          <a:noFill/>
          <a:ln/>
        </p:spPr>
        <p:txBody>
          <a:bodyPr wrap="square" rtlCol="0" anchor="ctr"/>
          <a:lstStyle/>
          <a:p>
            <a:pPr marL="0" indent="0">
              <a:buNone/>
            </a:pPr>
            <a:r>
              <a:rPr lang="en-US" sz="1800" b="1" dirty="0">
                <a:solidFill>
                  <a:srgbClr val="132952"/>
                </a:solidFill>
                <a:latin typeface="Georgia" pitchFamily="34" charset="0"/>
                <a:ea typeface="Georgia" pitchFamily="34" charset="-122"/>
                <a:cs typeface="Georgia" pitchFamily="34" charset="-120"/>
              </a:rPr>
              <a:t>India's INR Vulnerability</a:t>
            </a:r>
            <a:endParaRPr lang="en-US" sz="1800" dirty="0"/>
          </a:p>
        </p:txBody>
      </p:sp>
      <p:sp>
        <p:nvSpPr>
          <p:cNvPr id="14" name="Text 12"/>
          <p:cNvSpPr/>
          <p:nvPr/>
        </p:nvSpPr>
        <p:spPr>
          <a:xfrm>
            <a:off x="4663440" y="1783080"/>
            <a:ext cx="4114800" cy="64008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Importing 85%+ of crude, a $10/bbl price rise widens India's CAD by ~$15B, directly depreciating the INR and stoking imported inflation.</a:t>
            </a:r>
            <a:endParaRPr lang="en-US" sz="1100" dirty="0"/>
          </a:p>
        </p:txBody>
      </p:sp>
      <p:sp>
        <p:nvSpPr>
          <p:cNvPr id="15" name="Shape 13"/>
          <p:cNvSpPr/>
          <p:nvPr/>
        </p:nvSpPr>
        <p:spPr>
          <a:xfrm>
            <a:off x="365760" y="2514600"/>
            <a:ext cx="4023360" cy="1097280"/>
          </a:xfrm>
          <a:prstGeom prst="rect">
            <a:avLst/>
          </a:prstGeom>
          <a:solidFill>
            <a:srgbClr val="FFFFFF"/>
          </a:solidFill>
          <a:ln/>
          <a:effectLst>
            <a:outerShdw blurRad="101600" dist="38100" dir="8100000" algn="bl" rotWithShape="0">
              <a:srgbClr val="000000">
                <a:alpha val="18000"/>
              </a:srgbClr>
            </a:outerShdw>
          </a:effectLst>
        </p:spPr>
      </p:sp>
      <p:sp>
        <p:nvSpPr>
          <p:cNvPr id="16" name="Shape 14"/>
          <p:cNvSpPr/>
          <p:nvPr/>
        </p:nvSpPr>
        <p:spPr>
          <a:xfrm>
            <a:off x="365760" y="2514600"/>
            <a:ext cx="4023360" cy="73152"/>
          </a:xfrm>
          <a:prstGeom prst="rect">
            <a:avLst/>
          </a:prstGeom>
          <a:solidFill>
            <a:srgbClr val="132952"/>
          </a:solidFill>
          <a:ln/>
        </p:spPr>
      </p:sp>
      <p:sp>
        <p:nvSpPr>
          <p:cNvPr id="17" name="Text 15"/>
          <p:cNvSpPr/>
          <p:nvPr/>
        </p:nvSpPr>
        <p:spPr>
          <a:xfrm>
            <a:off x="548640" y="2624328"/>
            <a:ext cx="3657600" cy="274320"/>
          </a:xfrm>
          <a:prstGeom prst="rect">
            <a:avLst/>
          </a:prstGeom>
          <a:noFill/>
          <a:ln/>
        </p:spPr>
        <p:txBody>
          <a:bodyPr wrap="square" rtlCol="0" anchor="ctr"/>
          <a:lstStyle/>
          <a:p>
            <a:pPr marL="0" indent="0">
              <a:buNone/>
            </a:pPr>
            <a:r>
              <a:rPr lang="en-US" sz="1800" b="1" dirty="0">
                <a:solidFill>
                  <a:srgbClr val="132952"/>
                </a:solidFill>
                <a:latin typeface="Georgia" pitchFamily="34" charset="0"/>
                <a:ea typeface="Georgia" pitchFamily="34" charset="-122"/>
                <a:cs typeface="Georgia" pitchFamily="34" charset="-120"/>
              </a:rPr>
              <a:t>FX Market Instruments</a:t>
            </a:r>
            <a:endParaRPr lang="en-US" sz="1800" dirty="0"/>
          </a:p>
        </p:txBody>
      </p:sp>
      <p:sp>
        <p:nvSpPr>
          <p:cNvPr id="18" name="Text 16"/>
          <p:cNvSpPr/>
          <p:nvPr/>
        </p:nvSpPr>
        <p:spPr>
          <a:xfrm>
            <a:off x="548640" y="2926080"/>
            <a:ext cx="3657600" cy="64008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Spot, forwards, futures, options and swaps form the toolkit for FX exposure in the $7.5T daily market, regulated in India under FEMA, 1999.</a:t>
            </a:r>
            <a:endParaRPr lang="en-US" sz="1100" dirty="0"/>
          </a:p>
        </p:txBody>
      </p:sp>
      <p:sp>
        <p:nvSpPr>
          <p:cNvPr id="19" name="Shape 17"/>
          <p:cNvSpPr/>
          <p:nvPr/>
        </p:nvSpPr>
        <p:spPr>
          <a:xfrm>
            <a:off x="4480560" y="2514600"/>
            <a:ext cx="4480560" cy="1097280"/>
          </a:xfrm>
          <a:prstGeom prst="rect">
            <a:avLst/>
          </a:prstGeom>
          <a:solidFill>
            <a:srgbClr val="FFFFFF"/>
          </a:solidFill>
          <a:ln/>
          <a:effectLst>
            <a:outerShdw blurRad="101600" dist="38100" dir="8100000" algn="bl" rotWithShape="0">
              <a:srgbClr val="000000">
                <a:alpha val="18000"/>
              </a:srgbClr>
            </a:outerShdw>
          </a:effectLst>
        </p:spPr>
      </p:sp>
      <p:sp>
        <p:nvSpPr>
          <p:cNvPr id="20" name="Shape 18"/>
          <p:cNvSpPr/>
          <p:nvPr/>
        </p:nvSpPr>
        <p:spPr>
          <a:xfrm>
            <a:off x="4480560" y="2514600"/>
            <a:ext cx="4480560" cy="73152"/>
          </a:xfrm>
          <a:prstGeom prst="rect">
            <a:avLst/>
          </a:prstGeom>
          <a:solidFill>
            <a:srgbClr val="0D1F3C"/>
          </a:solidFill>
          <a:ln/>
        </p:spPr>
      </p:sp>
      <p:sp>
        <p:nvSpPr>
          <p:cNvPr id="21" name="Text 19"/>
          <p:cNvSpPr/>
          <p:nvPr/>
        </p:nvSpPr>
        <p:spPr>
          <a:xfrm>
            <a:off x="4663440" y="2624328"/>
            <a:ext cx="4114800" cy="274320"/>
          </a:xfrm>
          <a:prstGeom prst="rect">
            <a:avLst/>
          </a:prstGeom>
          <a:noFill/>
          <a:ln/>
        </p:spPr>
        <p:txBody>
          <a:bodyPr wrap="square" rtlCol="0" anchor="ctr"/>
          <a:lstStyle/>
          <a:p>
            <a:pPr marL="0" indent="0">
              <a:buNone/>
            </a:pPr>
            <a:r>
              <a:rPr lang="en-US" sz="1800" b="1" dirty="0">
                <a:solidFill>
                  <a:srgbClr val="0D1F3C"/>
                </a:solidFill>
                <a:latin typeface="Georgia" pitchFamily="34" charset="0"/>
                <a:ea typeface="Georgia" pitchFamily="34" charset="-122"/>
                <a:cs typeface="Georgia" pitchFamily="34" charset="-120"/>
              </a:rPr>
              <a:t>Hedging Strategies</a:t>
            </a:r>
            <a:endParaRPr lang="en-US" sz="1800" dirty="0"/>
          </a:p>
        </p:txBody>
      </p:sp>
      <p:sp>
        <p:nvSpPr>
          <p:cNvPr id="22" name="Text 20"/>
          <p:cNvSpPr/>
          <p:nvPr/>
        </p:nvSpPr>
        <p:spPr>
          <a:xfrm>
            <a:off x="4663440" y="2926080"/>
            <a:ext cx="4114800" cy="64008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Forwards, currency options, crude futures (MCX/NYMEX), and natural hedging are essential tools for PSUs, airlines, and corporates managing oil-FX risk.</a:t>
            </a:r>
            <a:endParaRPr lang="en-US" sz="1100" dirty="0"/>
          </a:p>
        </p:txBody>
      </p:sp>
      <p:sp>
        <p:nvSpPr>
          <p:cNvPr id="23" name="Shape 21"/>
          <p:cNvSpPr/>
          <p:nvPr/>
        </p:nvSpPr>
        <p:spPr>
          <a:xfrm>
            <a:off x="365760" y="3703320"/>
            <a:ext cx="8595360" cy="594360"/>
          </a:xfrm>
          <a:prstGeom prst="rect">
            <a:avLst/>
          </a:prstGeom>
          <a:solidFill>
            <a:srgbClr val="F0F4F8"/>
          </a:solidFill>
          <a:ln/>
        </p:spPr>
      </p:sp>
      <p:sp>
        <p:nvSpPr>
          <p:cNvPr id="24" name="Shape 22"/>
          <p:cNvSpPr/>
          <p:nvPr/>
        </p:nvSpPr>
        <p:spPr>
          <a:xfrm>
            <a:off x="365760" y="3703320"/>
            <a:ext cx="8595360" cy="73152"/>
          </a:xfrm>
          <a:prstGeom prst="rect">
            <a:avLst/>
          </a:prstGeom>
          <a:solidFill>
            <a:srgbClr val="C9943A"/>
          </a:solidFill>
          <a:ln/>
        </p:spPr>
      </p:sp>
      <p:sp>
        <p:nvSpPr>
          <p:cNvPr id="25" name="Text 23"/>
          <p:cNvSpPr/>
          <p:nvPr/>
        </p:nvSpPr>
        <p:spPr>
          <a:xfrm>
            <a:off x="548640" y="3794760"/>
            <a:ext cx="8229600" cy="457200"/>
          </a:xfrm>
          <a:prstGeom prst="rect">
            <a:avLst/>
          </a:prstGeom>
          <a:noFill/>
          <a:ln/>
        </p:spPr>
        <p:txBody>
          <a:bodyPr wrap="square" rtlCol="0" anchor="ctr"/>
          <a:lstStyle/>
          <a:p>
            <a:pPr marL="0" indent="0" algn="ctr">
              <a:buNone/>
            </a:pPr>
            <a:r>
              <a:rPr lang="en-US" sz="1400" b="1" dirty="0">
                <a:solidFill>
                  <a:srgbClr val="0D1F3C"/>
                </a:solidFill>
                <a:latin typeface="Georgia" pitchFamily="34" charset="0"/>
                <a:ea typeface="Georgia" pitchFamily="34" charset="-122"/>
                <a:cs typeface="Georgia" pitchFamily="34" charset="-120"/>
              </a:rPr>
              <a:t>Policy Implication: India's managed float (RBI), forex reserves, and INR-Ruble trade initiatives are strategic responses to structural petrodollar dependency.</a:t>
            </a:r>
            <a:endParaRPr lang="en-US" sz="1400" dirty="0"/>
          </a:p>
        </p:txBody>
      </p:sp>
      <p:sp>
        <p:nvSpPr>
          <p:cNvPr id="26" name="Text 24"/>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1B7FA6"/>
          </a:solidFill>
          <a:ln/>
        </p:spPr>
      </p:sp>
      <p:sp>
        <p:nvSpPr>
          <p:cNvPr id="3" name="Shape 1"/>
          <p:cNvSpPr/>
          <p:nvPr/>
        </p:nvSpPr>
        <p:spPr>
          <a:xfrm>
            <a:off x="182880" y="0"/>
            <a:ext cx="8961120" cy="685800"/>
          </a:xfrm>
          <a:prstGeom prst="rect">
            <a:avLst/>
          </a:prstGeom>
          <a:solidFill>
            <a:srgbClr val="F0F4F8"/>
          </a:solidFill>
          <a:ln/>
        </p:spPr>
      </p:sp>
      <p:sp>
        <p:nvSpPr>
          <p:cNvPr id="4" name="Text 2"/>
          <p:cNvSpPr/>
          <p:nvPr/>
        </p:nvSpPr>
        <p:spPr>
          <a:xfrm>
            <a:off x="365760" y="0"/>
            <a:ext cx="8595360" cy="685800"/>
          </a:xfrm>
          <a:prstGeom prst="rect">
            <a:avLst/>
          </a:prstGeom>
          <a:noFill/>
          <a:ln/>
        </p:spPr>
        <p:txBody>
          <a:bodyPr wrap="square" rtlCol="0" anchor="ctr"/>
          <a:lstStyle/>
          <a:p>
            <a:pPr marL="0" indent="0">
              <a:buNone/>
            </a:pPr>
            <a:r>
              <a:rPr lang="en-US" sz="1000" b="1" kern="0" spc="300" dirty="0">
                <a:solidFill>
                  <a:srgbClr val="0D1F3C"/>
                </a:solidFill>
                <a:latin typeface="Calibri" pitchFamily="34" charset="0"/>
                <a:ea typeface="Calibri" pitchFamily="34" charset="-122"/>
                <a:cs typeface="Calibri" pitchFamily="34" charset="-120"/>
              </a:rPr>
              <a:t>FINANCIAL INSTITUTIONS, MARKETS &amp; SERVICES</a:t>
            </a:r>
            <a:endParaRPr lang="en-US" sz="1000" dirty="0"/>
          </a:p>
        </p:txBody>
      </p:sp>
      <p:sp>
        <p:nvSpPr>
          <p:cNvPr id="5" name="Text 3"/>
          <p:cNvSpPr/>
          <p:nvPr/>
        </p:nvSpPr>
        <p:spPr>
          <a:xfrm>
            <a:off x="365760" y="1371600"/>
            <a:ext cx="8595360" cy="1371600"/>
          </a:xfrm>
          <a:prstGeom prst="rect">
            <a:avLst/>
          </a:prstGeom>
          <a:noFill/>
          <a:ln/>
        </p:spPr>
        <p:txBody>
          <a:bodyPr wrap="square" rtlCol="0" anchor="ctr"/>
          <a:lstStyle/>
          <a:p>
            <a:pPr marL="0" indent="0" algn="ctr">
              <a:buNone/>
            </a:pPr>
            <a:r>
              <a:rPr lang="en-US" sz="7200" b="1" dirty="0">
                <a:solidFill>
                  <a:srgbClr val="1B7FA6"/>
                </a:solidFill>
                <a:latin typeface="Georgia" pitchFamily="34" charset="0"/>
                <a:ea typeface="Georgia" pitchFamily="34" charset="-122"/>
                <a:cs typeface="Georgia" pitchFamily="34" charset="-120"/>
              </a:rPr>
              <a:t>Thank You</a:t>
            </a:r>
            <a:endParaRPr lang="en-US" sz="7200" dirty="0"/>
          </a:p>
        </p:txBody>
      </p:sp>
      <p:sp>
        <p:nvSpPr>
          <p:cNvPr id="6" name="Text 4"/>
          <p:cNvSpPr/>
          <p:nvPr/>
        </p:nvSpPr>
        <p:spPr>
          <a:xfrm>
            <a:off x="365760" y="2926080"/>
            <a:ext cx="8595360" cy="457200"/>
          </a:xfrm>
          <a:prstGeom prst="rect">
            <a:avLst/>
          </a:prstGeom>
          <a:noFill/>
          <a:ln/>
        </p:spPr>
        <p:txBody>
          <a:bodyPr wrap="square" rtlCol="0" anchor="ctr"/>
          <a:lstStyle/>
          <a:p>
            <a:pPr marL="0" indent="0" algn="ctr">
              <a:buNone/>
            </a:pPr>
            <a:r>
              <a:rPr lang="en-US" sz="2400" dirty="0">
                <a:solidFill>
                  <a:srgbClr val="1B7FA6"/>
                </a:solidFill>
                <a:latin typeface="Georgia" pitchFamily="34" charset="0"/>
                <a:ea typeface="Georgia" pitchFamily="34" charset="-122"/>
                <a:cs typeface="Georgia" pitchFamily="34" charset="-120"/>
              </a:rPr>
              <a:t>Questions &amp; Discussion</a:t>
            </a:r>
            <a:endParaRPr lang="en-US" sz="2400" dirty="0"/>
          </a:p>
        </p:txBody>
      </p:sp>
      <p:sp>
        <p:nvSpPr>
          <p:cNvPr id="7" name="Shape 5"/>
          <p:cNvSpPr/>
          <p:nvPr/>
        </p:nvSpPr>
        <p:spPr>
          <a:xfrm>
            <a:off x="3657600" y="3474720"/>
            <a:ext cx="1828800" cy="73152"/>
          </a:xfrm>
          <a:prstGeom prst="rect">
            <a:avLst/>
          </a:prstGeom>
          <a:solidFill>
            <a:srgbClr val="1B7FA6"/>
          </a:solidFill>
          <a:ln/>
        </p:spPr>
      </p:sp>
      <p:sp>
        <p:nvSpPr>
          <p:cNvPr id="8" name="Text 6"/>
          <p:cNvSpPr/>
          <p:nvPr/>
        </p:nvSpPr>
        <p:spPr>
          <a:xfrm>
            <a:off x="0" y="4846320"/>
            <a:ext cx="9144000" cy="228600"/>
          </a:xfrm>
          <a:prstGeom prst="rect">
            <a:avLst/>
          </a:prstGeom>
          <a:noFill/>
          <a:ln/>
        </p:spPr>
        <p:txBody>
          <a:bodyPr wrap="square" rtlCol="0" anchor="ctr"/>
          <a:lstStyle/>
          <a:p>
            <a:pPr marL="0" indent="0" algn="ctr">
              <a:buNone/>
            </a:pPr>
            <a:r>
              <a:rPr lang="en-US" sz="800" dirty="0">
                <a:solidFill>
                  <a:srgbClr val="6E8CA0"/>
                </a:solidFill>
                <a:latin typeface="Calibri" pitchFamily="34" charset="0"/>
                <a:ea typeface="Calibri" pitchFamily="34" charset="-122"/>
                <a:cs typeface="Calibri" pitchFamily="34" charset="-120"/>
              </a:rPr>
              <a:t>Financial Institutions, Markets &amp; Services  |  Chitkara Business School  |  Jan–Jun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3882</Words>
  <Application>Microsoft Office PowerPoint</Application>
  <PresentationFormat>On-screen Show (16:9)</PresentationFormat>
  <Paragraphs>323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Crude Oil on Foreign Exchange Markets</dc:title>
  <dc:subject>PptxGenJS Presentation</dc:subject>
  <dc:creator>PptxGenJS</dc:creator>
  <cp:lastModifiedBy>Amanjot Singh</cp:lastModifiedBy>
  <cp:revision>7</cp:revision>
  <dcterms:created xsi:type="dcterms:W3CDTF">2026-03-31T07:08:33Z</dcterms:created>
  <dcterms:modified xsi:type="dcterms:W3CDTF">2026-03-31T14:17:08Z</dcterms:modified>
</cp:coreProperties>
</file>