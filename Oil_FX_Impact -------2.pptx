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4B"/>
                </a:solidFill>
                <a:latin typeface="Arial"/>
              </a:rPr>
              <a:t>Brent Crude Price (USD/bbl)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 Crude (USD/bbl)</c:v>
                </c:pt>
              </c:strCache>
            </c:strRef>
          </c:tx>
          <c:spPr>
            <a:solidFill>
              <a:srgbClr val="1E4D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</c:v>
                </c:pt>
                <c:pt idx="1">
                  <c:v>64</c:v>
                </c:pt>
                <c:pt idx="2">
                  <c:v>42</c:v>
                </c:pt>
                <c:pt idx="3">
                  <c:v>70</c:v>
                </c:pt>
                <c:pt idx="4">
                  <c:v>101</c:v>
                </c:pt>
                <c:pt idx="5">
                  <c:v>83</c:v>
                </c:pt>
                <c:pt idx="6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4B"/>
                </a:solidFill>
                <a:latin typeface="Arial"/>
              </a:rPr>
              <a:t>INR/USD Rate (Annual Avg)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INR/USD (Annual Avg)</c:v>
                </c:pt>
              </c:strCache>
            </c:strRef>
          </c:tx>
          <c:spPr>
            <a:solidFill>
              <a:srgbClr val="D94F3D"/>
            </a:solidFill>
            <a:ln w="38100" cap="flat">
              <a:solidFill>
                <a:srgbClr val="D94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4F3D"/>
              </a:solidFill>
              <a:ln w="9525" cap="flat">
                <a:solidFill>
                  <a:srgbClr val="D94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68.4</c:v>
                </c:pt>
                <c:pt idx="1">
                  <c:v>70.4</c:v>
                </c:pt>
                <c:pt idx="2">
                  <c:v>74.1</c:v>
                </c:pt>
                <c:pt idx="3">
                  <c:v>73.9</c:v>
                </c:pt>
                <c:pt idx="4">
                  <c:v>78.6</c:v>
                </c:pt>
                <c:pt idx="5">
                  <c:v>82.6</c:v>
                </c:pt>
                <c:pt idx="6">
                  <c:v>83.5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86868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73736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60604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47472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34340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371600" cy="13716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83464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1051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B429"/>
                </a:solidFill>
              </a:rPr>
              <a:t>CRUDE OIL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03504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E4FF"/>
                </a:solidFill>
              </a:rPr>
              <a:t>FOREX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004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B429"/>
                </a:solidFill>
              </a:rPr>
              <a:t>IMPACT OF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0040" y="12344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CRUDE OIL</a:t>
            </a:r>
            <a:endParaRPr lang="en-US" sz="5400" dirty="0"/>
          </a:p>
        </p:txBody>
      </p:sp>
      <p:sp>
        <p:nvSpPr>
          <p:cNvPr id="16" name="Text 12"/>
          <p:cNvSpPr/>
          <p:nvPr/>
        </p:nvSpPr>
        <p:spPr>
          <a:xfrm>
            <a:off x="32004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100" kern="0" dirty="0">
                <a:solidFill>
                  <a:srgbClr val="D6E4FF"/>
                </a:solidFill>
              </a:rPr>
              <a:t>ON FOREIGN EXCHANGE MARKETS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20040" y="2788920"/>
            <a:ext cx="41148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4FF"/>
                </a:solidFill>
              </a:rPr>
              <a:t>Petrodollar System  •  INR/USD Dynamics  •  Hedging Strategies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200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Financial Institutions, Markets &amp; Services  |  Chitkara Business School  |  Jan–Jun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</a:rPr>
              <a:t>AGENDA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343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82296" cy="187452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24712"/>
            <a:ext cx="457200" cy="45720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Crude Oil Markets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Introduction • Types of Crude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Market Structure • Key Benchmarks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Global Pricing Dynamics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343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82296" cy="1874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2471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124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Foreign Exchange Markets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55448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Market Overview • Daily Volumes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Structure &amp; Tiers • Instruments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Exchange Rate Mechanisms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063240"/>
            <a:ext cx="4343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063240"/>
            <a:ext cx="82296" cy="1874520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27832"/>
            <a:ext cx="457200" cy="457200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2278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Crude Oil–Forex Nexus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The Petrodollar System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Impact on INR/USD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India's Import Vulnerability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343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63240"/>
            <a:ext cx="82296" cy="187452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227832"/>
            <a:ext cx="457200" cy="45720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2278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Hedging &amp; Takeaways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65760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Forward Contracts • Options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Futures • Natural Hedging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8A"/>
                </a:solidFill>
              </a:rPr>
              <a:t>Summary &amp; Key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WHAT IS CRUDE OIL?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B429"/>
                </a:solidFill>
              </a:rPr>
              <a:t>SEC 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394960" cy="2103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82296" cy="2103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B429"/>
                </a:solidFill>
              </a:rPr>
              <a:t>DEFINITION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F"/>
                </a:solidFill>
              </a:rPr>
              <a:t>Crude oil is a naturally occurring, unrefined petroleum product composed of hydrocarbon deposits. It is the world's most actively traded commodity — central to global economic activity, influencing prices, exchange rates, and national GDPs.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546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3200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A8A"/>
                </a:solidFill>
              </a:rPr>
              <a:t>Priced in USD (Petrodollar)  •  Unit: 1 bbl = 159 litres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52160" y="914400"/>
            <a:ext cx="3063240" cy="77724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960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89320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Global Market / Year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1920240"/>
            <a:ext cx="3063240" cy="7772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85%+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989320" y="2359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India's Import Dependence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2926080"/>
            <a:ext cx="306324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8932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98932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World's 3rd Largest Consumer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52160" y="3931920"/>
            <a:ext cx="3063240" cy="7772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8932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$140B+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989320" y="4370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India's Annual Crude Bill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TYPES &amp; GRADES OF CRUDE OIL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1031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103120" cy="50292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Brent Crude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914400" cy="914400"/>
          </a:xfrm>
          <a:prstGeom prst="ellipse">
            <a:avLst/>
          </a:prstGeom>
          <a:solidFill>
            <a:srgbClr val="1E4DB7">
              <a:alpha val="15000"/>
            </a:srgbClr>
          </a:solidFill>
          <a:ln w="19050">
            <a:solidFill>
              <a:srgbClr val="1E4D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DB7"/>
                </a:solidFill>
              </a:rPr>
              <a:t>~38°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Sulfur: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Low (Sweet)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Origin: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North Sea (UK/Norway)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474720"/>
            <a:ext cx="1920240" cy="36576"/>
          </a:xfrm>
          <a:prstGeom prst="rect">
            <a:avLst/>
          </a:prstGeom>
          <a:solidFill>
            <a:srgbClr val="1E4DB7">
              <a:alpha val="40000"/>
            </a:srgbClr>
          </a:solidFill>
          <a:ln w="12700">
            <a:solidFill>
              <a:srgbClr val="1E4DB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A"/>
                </a:solidFill>
              </a:rPr>
              <a:t>~67% of global oil priced off Brent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914400"/>
            <a:ext cx="21031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914400"/>
            <a:ext cx="21031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WTI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1508760"/>
            <a:ext cx="914400" cy="914400"/>
          </a:xfrm>
          <a:prstGeom prst="ellipse">
            <a:avLst/>
          </a:prstGeom>
          <a:solidFill>
            <a:srgbClr val="0D7377">
              <a:alpha val="15000"/>
            </a:srgbClr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~39.6°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Sulfur: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5468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Very Low (Sweet)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1460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Origin: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Midland, Texas, USA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14600" y="3474720"/>
            <a:ext cx="19202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A"/>
                </a:solidFill>
              </a:rPr>
              <a:t>US benchmark; traded on NYMEX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21031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914400"/>
            <a:ext cx="2103120" cy="5029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Dubai/Oman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57800" y="1508760"/>
            <a:ext cx="914400" cy="914400"/>
          </a:xfrm>
          <a:prstGeom prst="ellipse">
            <a:avLst/>
          </a:prstGeom>
          <a:solidFill>
            <a:srgbClr val="D94F3D">
              <a:alpha val="15000"/>
            </a:srgbClr>
          </a:solidFill>
          <a:ln w="19050">
            <a:solidFill>
              <a:srgbClr val="D94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4F3D"/>
                </a:solidFill>
              </a:rPr>
              <a:t>~31°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Sulfur: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Higher (Sour)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Origin: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Middle East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474720"/>
            <a:ext cx="1920240" cy="36576"/>
          </a:xfrm>
          <a:prstGeom prst="rect">
            <a:avLst/>
          </a:prstGeom>
          <a:solidFill>
            <a:srgbClr val="D94F3D">
              <a:alpha val="40000"/>
            </a:srgbClr>
          </a:solidFill>
          <a:ln w="12700">
            <a:solidFill>
              <a:srgbClr val="D94F3D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A"/>
                </a:solidFill>
              </a:rPr>
              <a:t>Asian pricing benchmark; key for India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03720" y="914400"/>
            <a:ext cx="21031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914400"/>
            <a:ext cx="2103120" cy="5029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OPEC Basket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98080" y="1508760"/>
            <a:ext cx="914400" cy="914400"/>
          </a:xfrm>
          <a:prstGeom prst="ellipse">
            <a:avLst/>
          </a:prstGeom>
          <a:solidFill>
            <a:srgbClr val="8B5E3C">
              <a:alpha val="15000"/>
            </a:srgbClr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E3C"/>
                </a:solidFill>
              </a:rPr>
              <a:t>Varies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9516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Sulfur: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3524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Varies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9516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Origin: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3524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Multi-country blend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95160" y="3474720"/>
            <a:ext cx="1920240" cy="36576"/>
          </a:xfrm>
          <a:prstGeom prst="rect">
            <a:avLst/>
          </a:prstGeom>
          <a:solidFill>
            <a:srgbClr val="8B5E3C">
              <a:alpha val="40000"/>
            </a:srgbClr>
          </a:solidFill>
          <a:ln w="12700">
            <a:solidFill>
              <a:srgbClr val="8B5E3C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A"/>
                </a:solidFill>
              </a:rPr>
              <a:t>Used as reference for OPEC policy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232"/>
          </a:solidFill>
          <a:ln w="12700">
            <a:solidFill>
              <a:srgbClr val="0A1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FOREIGN EXCHANGE MARKETS —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F0B429"/>
                </a:solidFill>
              </a:rPr>
              <a:t>$7.5 Trillion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4FF"/>
                </a:solidFill>
              </a:rPr>
              <a:t>Daily Trading Volume • World's Largest Financial Market • Operates 24×5 Globally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2743200" cy="2514600"/>
          </a:xfrm>
          <a:prstGeom prst="rect">
            <a:avLst/>
          </a:prstGeom>
          <a:solidFill>
            <a:srgbClr val="1A2F6B"/>
          </a:solidFill>
          <a:ln w="12700">
            <a:solidFill>
              <a:srgbClr val="2A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31720"/>
            <a:ext cx="27432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8716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OTC Market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520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No single central exchange. Trading happens between banks, institutions &amp; brokers through electronic networks globally.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2331720"/>
            <a:ext cx="2743200" cy="2514600"/>
          </a:xfrm>
          <a:prstGeom prst="rect">
            <a:avLst/>
          </a:prstGeom>
          <a:solidFill>
            <a:srgbClr val="1A2F6B"/>
          </a:solidFill>
          <a:ln w="12700">
            <a:solidFill>
              <a:srgbClr val="2A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331720"/>
            <a:ext cx="27432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8716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Highly Liquid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520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Most liquid market in the world. Any currency can be converted instantly at minimal cost (low bid-ask spread).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743200" cy="2514600"/>
          </a:xfrm>
          <a:prstGeom prst="rect">
            <a:avLst/>
          </a:prstGeom>
          <a:solidFill>
            <a:srgbClr val="1A2F6B"/>
          </a:solidFill>
          <a:ln w="12700">
            <a:solidFill>
              <a:srgbClr val="2A4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2331720"/>
            <a:ext cx="27432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48716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Continuous Market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55080" y="3520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Operates 24 hours across time zones: Sydney → Tokyo → London → New York forming a continuous cycle.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FOREIGN EXCHANGE INSTRUMENTS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73152" cy="694944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33272"/>
            <a:ext cx="457200" cy="45720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Spot Transactions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298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Exchange currencies at today's market rate. Instant settlement for trade needs.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5216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Settlement: T+2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0" y="1298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4DB7"/>
                </a:solidFill>
              </a:rPr>
              <a:t>Users: Importers/Exporters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719072"/>
            <a:ext cx="8778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719072"/>
            <a:ext cx="73152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37944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1792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Forward Contracts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Agreement to exchange currency at future date at today's fixed rate. Eliminates forex uncertainty.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52160" y="1792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Settlement: As agreed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Users: Hedgers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523744"/>
            <a:ext cx="8778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523744"/>
            <a:ext cx="73152" cy="694944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642616"/>
            <a:ext cx="457200" cy="457200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596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Currency Futures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29077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Standardized forward contracts traded on NSE/BSE. Used for speculation and hedging.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2596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Settlement: Last Thursday of month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F6B"/>
                </a:solidFill>
              </a:rPr>
              <a:t>Users: Corporates &amp; Traders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3328416"/>
            <a:ext cx="8778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328416"/>
            <a:ext cx="73152" cy="69494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447288"/>
            <a:ext cx="457200" cy="457200"/>
          </a:xfrm>
          <a:prstGeom prst="ellipse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Currency Options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712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Right (not obligation) to buy/sell at a fixed rate. Downside protection with upside benefit.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Settlement: Exercise 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0" y="37124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4F3D"/>
                </a:solidFill>
              </a:rPr>
              <a:t>Users: Corporate Treasuries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4133088"/>
            <a:ext cx="87782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4133088"/>
            <a:ext cx="73152" cy="694944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251960"/>
            <a:ext cx="457200" cy="45720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Currency Swaps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45171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Simultaneous buy/sell of same currency for different maturities. Long-term forex exposure management.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5216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Settlement: As per agreement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4517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2C6F"/>
                </a:solidFill>
              </a:rPr>
              <a:t>Users: MNCs &amp; Banks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232"/>
          </a:solidFill>
          <a:ln w="12700">
            <a:solidFill>
              <a:srgbClr val="0A1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THE PETRODOLLAR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6E4FF"/>
                </a:solidFill>
              </a:rPr>
              <a:t>Since 1973, global crude oil is priced &amp; traded exclusively in US Dollars — creating a structural link between oil markets and forex markets.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" y="1554480"/>
            <a:ext cx="1828800" cy="1097280"/>
          </a:xfrm>
          <a:prstGeom prst="rect">
            <a:avLst/>
          </a:prstGeom>
          <a:solidFill>
            <a:srgbClr val="1A2F6B"/>
          </a:solidFill>
          <a:ln w="1905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Country Buys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Crude Oil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429"/>
                </a:solidFill>
              </a:rPr>
              <a:t>Needs USD first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67128" y="2048256"/>
            <a:ext cx="384048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1993392"/>
            <a:ext cx="18288" cy="182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1176" y="1554480"/>
            <a:ext cx="1828800" cy="1097280"/>
          </a:xfrm>
          <a:prstGeom prst="rect">
            <a:avLst/>
          </a:prstGeom>
          <a:solidFill>
            <a:srgbClr val="1A2F6B"/>
          </a:solidFill>
          <a:ln w="1905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96896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Buys USD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Forex 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6896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429"/>
                </a:solidFill>
              </a:rPr>
              <a:t>Domestic currency sold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79976" y="2048256"/>
            <a:ext cx="384048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5736" y="1993392"/>
            <a:ext cx="18288" cy="182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4024" y="1554480"/>
            <a:ext cx="1828800" cy="1097280"/>
          </a:xfrm>
          <a:prstGeom prst="rect">
            <a:avLst/>
          </a:prstGeom>
          <a:solidFill>
            <a:srgbClr val="1A2F6B"/>
          </a:solidFill>
          <a:ln w="1905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9744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Pays Oil Exporter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USD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429"/>
                </a:solidFill>
              </a:rPr>
              <a:t>e.g. Saudi Arabia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92824" y="2048256"/>
            <a:ext cx="384048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58584" y="1993392"/>
            <a:ext cx="18288" cy="182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76872" y="1554480"/>
            <a:ext cx="1828800" cy="1097280"/>
          </a:xfrm>
          <a:prstGeom prst="rect">
            <a:avLst/>
          </a:prstGeom>
          <a:solidFill>
            <a:srgbClr val="1A2F6B"/>
          </a:solidFill>
          <a:ln w="1905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22592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Exporter Invests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USD Surplus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2592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B429"/>
                </a:solidFill>
              </a:rPr>
              <a:t>In US Treasuries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B429"/>
                </a:solidFill>
              </a:rPr>
              <a:t>IMPLICATIONS FOR INDIA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4612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Rising oil prices → higher USD demand → INR weakens (depreciates against USD)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79476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772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India must earn or buy USD to pay for crude — creating chronic structural USD demand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4340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</a:rPr>
              <a:t>India's forex reserves (held in USD) act as a buffer to manage oil payment shocks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CRUDE OIL PRICES vs INR/USD RATE (2018–2024)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9144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0B429">
              <a:alpha val="85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4B"/>
                </a:solidFill>
              </a:rPr>
              <a:t>KEY INSIGHT: A $10/bbl increase in crude prices widens India's Current Account Deficit by ~$15 billion annually, putting direct downward pressure on the INR.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EXCHANGE RATE DETERMINANTS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B429"/>
                </a:solidFill>
              </a:rPr>
              <a:t>FACTOR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0B429"/>
                </a:solidFill>
              </a:rPr>
              <a:t>IMPACT ON INR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B429"/>
                </a:solidFill>
              </a:rPr>
              <a:t>WHAT IT MEANS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71600"/>
            <a:ext cx="73152" cy="7315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Rising Crude Oil Prices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527048"/>
            <a:ext cx="2194560" cy="41148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27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↓ INR WEAKENS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1572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More USD needed to pay oil import bill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194560"/>
            <a:ext cx="8686800" cy="731520"/>
          </a:xfrm>
          <a:prstGeom prst="rect">
            <a:avLst/>
          </a:prstGeom>
          <a:solidFill>
            <a:srgbClr val="EEF3FF"/>
          </a:solidFill>
          <a:ln w="6350">
            <a:solidFill>
              <a:srgbClr val="D0D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194560"/>
            <a:ext cx="73152" cy="7315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95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Increase in FII Investments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350008"/>
            <a:ext cx="2194560" cy="41148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3500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↑ INR STRENGTHENS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USD inflows increase domestic supply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017520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17520"/>
            <a:ext cx="73152" cy="7315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Higher US Interest Rates (Fed)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172968"/>
            <a:ext cx="2194560" cy="41148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172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↓ INR WEAKENS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Capital flows to USD-denominated assets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840480"/>
            <a:ext cx="8686800" cy="731520"/>
          </a:xfrm>
          <a:prstGeom prst="rect">
            <a:avLst/>
          </a:prstGeom>
          <a:solidFill>
            <a:srgbClr val="EEF3FF"/>
          </a:solidFill>
          <a:ln w="6350">
            <a:solidFill>
              <a:srgbClr val="D0DA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840480"/>
            <a:ext cx="73152" cy="73152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041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India's Export Growth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995928"/>
            <a:ext cx="2194560" cy="41148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9959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↑ INR STRENGTHENS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4041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More USD earned by exporters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HEDGING AGAINST CRUDE OIL–FOREX RISK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4343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82296" cy="192024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457200" cy="457200"/>
          </a:xfrm>
          <a:prstGeom prst="ellipse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03327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Currency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Forward Contracts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DB7"/>
                </a:solidFill>
              </a:rPr>
              <a:t>Users: Oil PSUs, Airlines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8470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Lock in the USD/INR rate today for future oil payment — eliminates forex uncertainty completely.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4F3D"/>
                </a:solidFill>
              </a:rPr>
              <a:t>⚠ Miss out if INR strengthens unexpectedly.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343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82296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07899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103327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Currency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Options (Put/Call)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Users: Exporters &amp; Corporate Treasuries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18470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Buy USD call option — exercise if INR weakens; let it lapse if INR strengthens instead.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4F3D"/>
                </a:solidFill>
              </a:rPr>
              <a:t>⚠ Premium cost; complex pricing model.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3017520"/>
            <a:ext cx="4343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3017520"/>
            <a:ext cx="82296" cy="1920240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82112"/>
            <a:ext cx="457200" cy="457200"/>
          </a:xfrm>
          <a:prstGeom prst="ellipse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1363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Oil Price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Futures (MCX/NYMEX)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685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Users: Refineries, Aviation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3950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Buy crude oil futures to lock in procurement price; protects against sudden price spikes.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6451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4F3D"/>
                </a:solidFill>
              </a:rPr>
              <a:t>⚠ Margin calls if crude price falls sharply.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343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17520"/>
            <a:ext cx="82296" cy="19202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182112"/>
            <a:ext cx="457200" cy="457200"/>
          </a:xfrm>
          <a:prstGeom prst="ellipse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31363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Natural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Hedging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685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C6F"/>
                </a:solidFill>
              </a:rPr>
              <a:t>Users: MNCs with India operations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3950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Match USD revenues (exports) against USD costs (oil import) to offset exposure organically.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6451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4F3D"/>
                </a:solidFill>
              </a:rPr>
              <a:t>⚠ Requires balanced exposure across geographies.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232"/>
          </a:solidFill>
          <a:ln w="12700">
            <a:solidFill>
              <a:srgbClr val="0A1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" cy="4114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Crude oil is the world's most traded commodity; Brent, WTI &amp; Dubai Crude are the main global benchmarks.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411480" cy="4114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73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The Petrodollar system means all crude oil is priced in USD, creating a permanent structural oil–forex link.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411480" cy="4114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India imports 85%+ of crude, making it highly vulnerable to price shocks that directly weaken the INR.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08376"/>
            <a:ext cx="411480" cy="4114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0083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The Forex market ($7.5T/day) uses spot, forward, futures, options &amp; swap instruments for currency management.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675888"/>
            <a:ext cx="411480" cy="4114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6758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Rising crude prices → higher USD demand → INR depreciation → imported inflation — directly impacting RBI policy.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411480" cy="4114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Companies hedge oil-forex risk via forward contracts, currency options, crude futures &amp; natural hedging strategies.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232"/>
          </a:solidFill>
          <a:ln w="12700">
            <a:solidFill>
              <a:srgbClr val="0A12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86868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73736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60604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47472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343400"/>
            <a:ext cx="3200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280160" cy="1280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2801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32004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B429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20040" y="2697480"/>
            <a:ext cx="41148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834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Financial Institutions, Markets &amp; Services  |  24COM4373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004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Chitkara Business School  |  B.Com / B.Com ACCA – Semester 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3474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Course Coordinators: Dr. Kiran Sood / Dr. Shivani Inder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Crude Oil on FX Markets</dc:title>
  <dc:subject>PptxGenJS Presentation</dc:subject>
  <dc:creator>PptxGenJS</dc:creator>
  <cp:lastModifiedBy>PptxGenJS</cp:lastModifiedBy>
  <cp:revision>1</cp:revision>
  <dcterms:created xsi:type="dcterms:W3CDTF">2026-03-31T05:12:45Z</dcterms:created>
  <dcterms:modified xsi:type="dcterms:W3CDTF">2026-03-31T05:12:45Z</dcterms:modified>
</cp:coreProperties>
</file>